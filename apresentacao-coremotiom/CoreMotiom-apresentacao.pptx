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Aprovados</c:v>
                </c:pt>
              </c:strCache>
            </c:strRef>
          </c:tx>
          <c:spPr>
            <a:solidFill>
              <a:srgbClr val="CBD5E1"/>
            </a:solidFill>
          </c:spPr>
          <c:cat>
            <c:strRef>
              <c:f>Sheet1!$A$2:$A$3</c:f>
              <c:strCache>
                <c:ptCount val="2"/>
                <c:pt idx="0">
                  <c:v>Linha de base (esquema inicial)</c:v>
                </c:pt>
                <c:pt idx="1">
                  <c:v>Esquema endurecido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Reprovados</c:v>
                </c:pt>
              </c:strCache>
            </c:strRef>
          </c:tx>
          <c:spPr>
            <a:solidFill>
              <a:srgbClr val="E50914"/>
            </a:solidFill>
          </c:spPr>
          <c:cat>
            <c:strRef>
              <c:f>Sheet1!$A$2:$A$3</c:f>
              <c:strCache>
                <c:ptCount val="2"/>
                <c:pt idx="0">
                  <c:v>Linha de base (esquema inicial)</c:v>
                </c:pt>
                <c:pt idx="1">
                  <c:v>Esquema endurecido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29</c:v>
                </c:pt>
                <c:pt idx="1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sz="1600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72C3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l"/>
        <c:majorGridlines>
          <c:spPr>
            <a:ln>
              <a:solidFill>
                <a:srgbClr val="272C3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0.0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94A3B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pa-tinta-flui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gradFill rotWithShape="1">
            <a:gsLst>
              <a:gs pos="0">
                <a:srgbClr val="0B0C10">
                  <a:alpha val="96000"/>
                </a:srgbClr>
              </a:gs>
              <a:gs pos="55000">
                <a:srgbClr val="0B0C10">
                  <a:alpha val="70000"/>
                </a:srgbClr>
              </a:gs>
              <a:gs pos="100000">
                <a:srgbClr val="0B0C10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463040"/>
            <a:ext cx="4754880" cy="4754880"/>
          </a:xfrm>
          <a:prstGeom prst="ellipse">
            <a:avLst/>
          </a:prstGeom>
          <a:solidFill>
            <a:srgbClr val="E50914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480560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ETAPA 5 · TCC · MARKETPLACE ESPORTIVO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73152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0" b="1" i="0">
                <a:solidFill>
                  <a:srgbClr val="F8FAFC"/>
                </a:solidFill>
                <a:latin typeface="Calibri"/>
              </a:rPr>
              <a:t>CoreMotiom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6035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 i="0">
                <a:solidFill>
                  <a:srgbClr val="94A3B8"/>
                </a:solidFill>
                <a:latin typeface="Calibri"/>
              </a:rPr>
              <a:t>Marketplace esportivo com lojas oficiais e venda entre atletas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4617720"/>
            <a:ext cx="118872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67665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Disciplina: Etapa 5 (TCC)  ·  Professor: Antonio Carlos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Curso: [NOME DO CURSO]  ·  Instituição: [NOME DA INSTITUIÇÃO]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Equipe: [nomes em ordem numérica]  ·  Data: [DATA DA APRESENTAÇÃO]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 animBg="1"/>
      <p:bldP spid="9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DAILY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A equipe e os papéis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Cada integrante, seu papel no Scrum e sua função no projeto.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4708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057400" cy="38404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05740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00">
                <a:solidFill>
                  <a:srgbClr val="E50914"/>
                </a:solidFill>
                <a:latin typeface="Calibri"/>
              </a:rPr>
              <a:t>Nº 01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926080"/>
            <a:ext cx="1051560" cy="1051560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foto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4748B"/>
                </a:solidFill>
                <a:latin typeface="Calibri"/>
              </a:rPr>
              <a:t>[nome completo]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50914"/>
                </a:solidFill>
                <a:latin typeface="Calibri"/>
              </a:rPr>
              <a:t>[Scrum Master, Product Owner ou Developer]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[função no projeto]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2286000"/>
            <a:ext cx="2057400" cy="38404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4" y="2286000"/>
            <a:ext cx="205740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51460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00">
                <a:solidFill>
                  <a:srgbClr val="E50914"/>
                </a:solidFill>
                <a:latin typeface="Calibri"/>
              </a:rPr>
              <a:t>Nº 02</a:t>
            </a:r>
          </a:p>
        </p:txBody>
      </p:sp>
      <p:sp>
        <p:nvSpPr>
          <p:cNvPr id="16" name="Oval 15"/>
          <p:cNvSpPr/>
          <p:nvPr/>
        </p:nvSpPr>
        <p:spPr>
          <a:xfrm>
            <a:off x="3300984" y="2926080"/>
            <a:ext cx="1051560" cy="1051560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foto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41605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4748B"/>
                </a:solidFill>
                <a:latin typeface="Calibri"/>
              </a:rPr>
              <a:t>[nome completo]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4645152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50914"/>
                </a:solidFill>
                <a:latin typeface="Calibri"/>
              </a:rPr>
              <a:t>[Scrum Master, Product Owner ou Developer]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9504" y="53492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[função no projeto]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7488" y="2286000"/>
            <a:ext cx="2057400" cy="38404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2286000"/>
            <a:ext cx="205740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251460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00">
                <a:solidFill>
                  <a:srgbClr val="E50914"/>
                </a:solidFill>
                <a:latin typeface="Calibri"/>
              </a:rPr>
              <a:t>Nº 03</a:t>
            </a:r>
          </a:p>
        </p:txBody>
      </p:sp>
      <p:sp>
        <p:nvSpPr>
          <p:cNvPr id="23" name="Oval 22"/>
          <p:cNvSpPr/>
          <p:nvPr/>
        </p:nvSpPr>
        <p:spPr>
          <a:xfrm>
            <a:off x="5550407" y="2926080"/>
            <a:ext cx="1051560" cy="1051560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foto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7" y="41605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4748B"/>
                </a:solidFill>
                <a:latin typeface="Calibri"/>
              </a:rPr>
              <a:t>[nome completo]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7" y="4645152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50914"/>
                </a:solidFill>
                <a:latin typeface="Calibri"/>
              </a:rPr>
              <a:t>[Scrum Master, Product Owner ou Developer]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7" y="53492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[função no projeto]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6912" y="2286000"/>
            <a:ext cx="2057400" cy="38404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286000"/>
            <a:ext cx="205740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251460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00">
                <a:solidFill>
                  <a:srgbClr val="E50914"/>
                </a:solidFill>
                <a:latin typeface="Calibri"/>
              </a:rPr>
              <a:t>Nº 04</a:t>
            </a:r>
          </a:p>
        </p:txBody>
      </p:sp>
      <p:sp>
        <p:nvSpPr>
          <p:cNvPr id="30" name="Oval 29"/>
          <p:cNvSpPr/>
          <p:nvPr/>
        </p:nvSpPr>
        <p:spPr>
          <a:xfrm>
            <a:off x="7799831" y="2926080"/>
            <a:ext cx="1051560" cy="1051560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foto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1605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4748B"/>
                </a:solidFill>
                <a:latin typeface="Calibri"/>
              </a:rPr>
              <a:t>[nome completo]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645152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50914"/>
                </a:solidFill>
                <a:latin typeface="Calibri"/>
              </a:rPr>
              <a:t>[Scrum Master, Product Owner ou Developer]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53492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[função no projeto]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6336" y="2286000"/>
            <a:ext cx="2057400" cy="38404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46336" y="2286000"/>
            <a:ext cx="205740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5" y="251460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00">
                <a:solidFill>
                  <a:srgbClr val="E50914"/>
                </a:solidFill>
                <a:latin typeface="Calibri"/>
              </a:rPr>
              <a:t>Nº 05</a:t>
            </a:r>
          </a:p>
        </p:txBody>
      </p:sp>
      <p:sp>
        <p:nvSpPr>
          <p:cNvPr id="37" name="Oval 36"/>
          <p:cNvSpPr/>
          <p:nvPr/>
        </p:nvSpPr>
        <p:spPr>
          <a:xfrm>
            <a:off x="10049256" y="2926080"/>
            <a:ext cx="1051560" cy="1051560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foto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41605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4748B"/>
                </a:solidFill>
                <a:latin typeface="Calibri"/>
              </a:rPr>
              <a:t>[nome completo]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4645152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50914"/>
                </a:solidFill>
                <a:latin typeface="Calibri"/>
              </a:rPr>
              <a:t>[Scrum Master, Product Owner ou Developer]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53492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[função no projeto]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125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21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4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305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4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4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395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4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4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4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48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48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48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665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48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48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75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48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48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48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  <p:bldP spid="6" grpId="0" animBg="1"/>
      <p:bldP spid="7" grpId="0" animBg="1"/>
      <p:bldP spid="8" grpId="0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 animBg="1"/>
      <p:bldP spid="31" grpId="0"/>
      <p:bldP spid="32" grpId="0"/>
      <p:bldP spid="33" grpId="0"/>
      <p:bldP spid="34" grpId="0" animBg="1"/>
      <p:bldP spid="35" grpId="0" animBg="1"/>
      <p:bldP spid="36" grpId="0"/>
      <p:bldP spid="37" grpId="0" animBg="1"/>
      <p:bldP spid="38" grpId="0"/>
      <p:bldP spid="39" grpId="0"/>
      <p:bldP spid="40" grpId="0"/>
      <p:bldP spid="41" grpId="0" animBg="1"/>
      <p:bldP spid="42" grpId="0"/>
      <p:bldP spid="43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5091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PROBLEMA E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Por que um marketplace com controle de acesso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40680" cy="310896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73152" cy="31089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E5091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8FAFC"/>
                </a:solidFill>
                <a:latin typeface="Calibri"/>
              </a:rPr>
              <a:t>Canal único para compra e venda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Atletas e lojas de artigos esportivos precisam de um canal único para compra oficial e venda entre pessoas.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40680" cy="310896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73152" cy="31089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46888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E5091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8328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8FAFC"/>
                </a:solidFill>
                <a:latin typeface="Calibri"/>
              </a:rPr>
              <a:t>Controle de acesso correto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77639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Marketplaces exigem controle de acesso correto: quem pode anunciar, moderar, verificar lojas e alterar papéis.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77840"/>
            <a:ext cx="11109960" cy="548640"/>
          </a:xfrm>
          <a:prstGeom prst="roundRect">
            <a:avLst>
              <a:gd name="adj" fmla="val 50000"/>
            </a:avLst>
          </a:prstGeom>
          <a:solidFill>
            <a:srgbClr val="1A0D10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Regra central: a autorização é responsabilidade do servidor e do banco, não apenas da tela.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321307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O que o projeto se propõe a entregar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pa-tinta-fluido.jpg"/>
          <p:cNvPicPr>
            <a:picLocks noChangeAspect="1"/>
          </p:cNvPicPr>
          <p:nvPr/>
        </p:nvPicPr>
        <p:blipFill>
          <a:blip r:embed="rId2"/>
          <a:srcRect l="36000" r="7000"/>
          <a:stretch>
            <a:fillRect/>
          </a:stretch>
        </p:blipFill>
        <p:spPr>
          <a:xfrm>
            <a:off x="548640" y="2194560"/>
            <a:ext cx="4114800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2194560"/>
            <a:ext cx="4114800" cy="3886200"/>
          </a:xfrm>
          <a:prstGeom prst="rect">
            <a:avLst/>
          </a:prstGeom>
          <a:gradFill rotWithShape="1">
            <a:gsLst>
              <a:gs pos="0">
                <a:srgbClr val="0B0C10">
                  <a:alpha val="0"/>
                </a:srgbClr>
              </a:gs>
              <a:gs pos="100000">
                <a:srgbClr val="0B0C10">
                  <a:alpha val="85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3749039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spc="120">
                <a:solidFill>
                  <a:srgbClr val="E50914"/>
                </a:solidFill>
                <a:latin typeface="Calibri"/>
              </a:rPr>
              <a:t>Objetivo geral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F8FAFC"/>
                </a:solidFill>
                <a:latin typeface="Calibri"/>
              </a:rPr>
              <a:t>Desenvolver e disponibilizar um marketplace esportivo com hierarquia de papéis.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20">
                <a:solidFill>
                  <a:srgbClr val="94A3B8"/>
                </a:solidFill>
                <a:latin typeface="Calibri"/>
              </a:rPr>
              <a:t>OBJETIVOS ESPECÍFICOS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651760"/>
            <a:ext cx="6537960" cy="45720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85232" y="2743200"/>
            <a:ext cx="274320" cy="27432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688336"/>
            <a:ext cx="5760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Catálogo B2C e C2C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200400"/>
            <a:ext cx="6537960" cy="45720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85232" y="3291840"/>
            <a:ext cx="274320" cy="27432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36976"/>
            <a:ext cx="5760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Lojas com selo de verificação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749039"/>
            <a:ext cx="6537960" cy="45720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85232" y="3840479"/>
            <a:ext cx="274320" cy="27432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785615"/>
            <a:ext cx="5760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Compra com pagamento simulado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297679"/>
            <a:ext cx="6537960" cy="45720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5232" y="4389119"/>
            <a:ext cx="274320" cy="27432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334255"/>
            <a:ext cx="5760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Comunidade com moderação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4846320"/>
            <a:ext cx="6537960" cy="45720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85232" y="4937759"/>
            <a:ext cx="274320" cy="27432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882896"/>
            <a:ext cx="5760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Painel de gestão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394960"/>
            <a:ext cx="6537960" cy="45720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85232" y="5486400"/>
            <a:ext cx="274320" cy="27432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431536"/>
            <a:ext cx="5760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Controle de acesso no banco de dados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6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4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68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32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96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24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088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216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44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472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536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6" grpId="0" animBg="1"/>
      <p:bldP spid="7" grpId="0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281428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METODOLOGIA ·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Eventos e artefatos do ciclo de desenvolvimento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4480" y="2788920"/>
            <a:ext cx="9098280" cy="5486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56232" y="2404872"/>
            <a:ext cx="768096" cy="768096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Sprint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Planejamento da sprint</a:t>
            </a:r>
          </a:p>
        </p:txBody>
      </p:sp>
      <p:sp>
        <p:nvSpPr>
          <p:cNvPr id="9" name="Oval 8"/>
          <p:cNvSpPr/>
          <p:nvPr/>
        </p:nvSpPr>
        <p:spPr>
          <a:xfrm>
            <a:off x="4599432" y="2404872"/>
            <a:ext cx="768096" cy="76809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8328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Daily Scrum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79476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Sincronização diária</a:t>
            </a:r>
          </a:p>
        </p:txBody>
      </p:sp>
      <p:sp>
        <p:nvSpPr>
          <p:cNvPr id="12" name="Oval 11"/>
          <p:cNvSpPr/>
          <p:nvPr/>
        </p:nvSpPr>
        <p:spPr>
          <a:xfrm>
            <a:off x="7342631" y="2404872"/>
            <a:ext cx="768096" cy="768096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Sprint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Revisão do incremento</a:t>
            </a:r>
          </a:p>
        </p:txBody>
      </p:sp>
      <p:sp>
        <p:nvSpPr>
          <p:cNvPr id="15" name="Oval 14"/>
          <p:cNvSpPr/>
          <p:nvPr/>
        </p:nvSpPr>
        <p:spPr>
          <a:xfrm>
            <a:off x="10085832" y="2404872"/>
            <a:ext cx="768096" cy="768096"/>
          </a:xfrm>
          <a:prstGeom prst="ellipse">
            <a:avLst/>
          </a:prstGeom>
          <a:solidFill>
            <a:srgbClr val="1F232F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38328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Retrospectiva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79476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Melhoria do processo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20">
                <a:solidFill>
                  <a:srgbClr val="94A3B8"/>
                </a:solidFill>
                <a:latin typeface="Calibri"/>
              </a:rPr>
              <a:t>ARTEFATOS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Product Backlog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75488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Sprint Backlog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475488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Incremento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754880"/>
            <a:ext cx="3520440" cy="47548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[sprints, datas e entregas]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Preencher: número de sprints, datas e principais entregas de cada sprint.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2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4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4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48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92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36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224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296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368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12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84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656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857500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REQUISITOS E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Diagrama de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057400" cy="169164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057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E5091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casos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194560"/>
            <a:ext cx="2057400" cy="169164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286000"/>
            <a:ext cx="2057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E50914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24612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atores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4297680" cy="20116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38404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 spc="120">
                <a:solidFill>
                  <a:srgbClr val="E50914"/>
                </a:solidFill>
                <a:latin typeface="Calibri"/>
              </a:rPr>
              <a:t>USO GERAL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Visitante, Atleta e Lojista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 spc="120">
                <a:solidFill>
                  <a:srgbClr val="E50914"/>
                </a:solidFill>
                <a:latin typeface="Calibri"/>
              </a:rPr>
              <a:t>GESTÃO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Calibri"/>
              </a:rPr>
              <a:t>Supervisor e Administrador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94560"/>
            <a:ext cx="653796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so-de-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559" y="2331720"/>
            <a:ext cx="4302121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 animBg="1"/>
      <p:bldP spid="15" grpId="0" animBg="1"/>
      <p:bldP spid="16" grpId="0"/>
      <p:bldP spid="17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HIERARQUIA DE PAPÉIS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Administrador › Supervisor › Lojista › Atleta › Visitante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9767" y="2148840"/>
            <a:ext cx="5852160" cy="640080"/>
          </a:xfrm>
          <a:prstGeom prst="roundRect">
            <a:avLst>
              <a:gd name="adj" fmla="val 20000"/>
            </a:avLst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44087" y="2221992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Administrador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21992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Calibri"/>
              </a:rPr>
              <a:t>todas as capacidades, exceto sobre contas-mestre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6847" y="2926080"/>
            <a:ext cx="6858000" cy="640080"/>
          </a:xfrm>
          <a:prstGeom prst="roundRect">
            <a:avLst>
              <a:gd name="adj" fmla="val 20000"/>
            </a:avLst>
          </a:prstGeom>
          <a:solidFill>
            <a:srgbClr val="8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1167" y="2999232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247" y="2999232"/>
            <a:ext cx="33832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Calibri"/>
              </a:rPr>
              <a:t>modera, gerencia pedidos e verifica lojas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3927" y="3703320"/>
            <a:ext cx="7863840" cy="640080"/>
          </a:xfrm>
          <a:prstGeom prst="roundRect">
            <a:avLst>
              <a:gd name="adj" fmla="val 20000"/>
            </a:avLst>
          </a:prstGeom>
          <a:solidFill>
            <a:srgbClr val="4A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8247" y="3776472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Lojista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4327" y="3776472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atleta com loja própria (B2C)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1007" y="4480560"/>
            <a:ext cx="8869680" cy="640080"/>
          </a:xfrm>
          <a:prstGeom prst="roundRect">
            <a:avLst>
              <a:gd name="adj" fmla="val 20000"/>
            </a:avLst>
          </a:prstGeom>
          <a:solidFill>
            <a:srgbClr val="2B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5327" y="4553712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Atleta (Usuário)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1407" y="4553712"/>
            <a:ext cx="539495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compra, anuncia (C2C) e participa da comunidade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8087" y="5257800"/>
            <a:ext cx="9875520" cy="640080"/>
          </a:xfrm>
          <a:prstGeom prst="roundRect">
            <a:avLst>
              <a:gd name="adj" fmla="val 20000"/>
            </a:avLst>
          </a:prstGeom>
          <a:solidFill>
            <a:srgbClr val="1F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2407" y="5330952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Calibri"/>
              </a:rPr>
              <a:t>Visitante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8487" y="5330952"/>
            <a:ext cx="64008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navega na vitrine, sem escrita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Supervisor não altera papéis nem exclui contas. Administrador: exceto contas-mestre, que não podem ser suspensas, rebaixadas nem excluídas.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6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43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4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6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67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4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2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91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72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53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134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21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96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377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458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539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701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389120"/>
            <a:ext cx="4206240" cy="4206240"/>
          </a:xfrm>
          <a:prstGeom prst="ellipse">
            <a:avLst/>
          </a:prstGeom>
          <a:solidFill>
            <a:srgbClr val="E5091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Camadas e responsabilidades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560320" cy="31546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E50914"/>
                </a:solidFill>
                <a:latin typeface="Calibri"/>
              </a:rPr>
              <a:t>CAMADA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Calibri"/>
              </a:rPr>
              <a:t>Frontend 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21945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Next.js 15 (App Router), React 19 e TypeScript.</a:t>
            </a:r>
          </a:p>
        </p:txBody>
      </p:sp>
      <p:sp>
        <p:nvSpPr>
          <p:cNvPr id="10" name="Chevron 9"/>
          <p:cNvSpPr/>
          <p:nvPr/>
        </p:nvSpPr>
        <p:spPr>
          <a:xfrm>
            <a:off x="3145536" y="3703320"/>
            <a:ext cx="201168" cy="384048"/>
          </a:xfrm>
          <a:prstGeom prst="chevron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2286000"/>
            <a:ext cx="2560320" cy="31546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487168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E50914"/>
                </a:solidFill>
                <a:latin typeface="Calibri"/>
              </a:rPr>
              <a:t>CAMADA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Calibri"/>
              </a:rPr>
              <a:t>Autenticação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57600"/>
            <a:ext cx="21945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Supabase Auth com token JWT, validado no servidor a cada requisição.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0176" y="3703320"/>
            <a:ext cx="201168" cy="384048"/>
          </a:xfrm>
          <a:prstGeom prst="chevron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2560320" cy="31546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487168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E50914"/>
                </a:solidFill>
                <a:latin typeface="Calibri"/>
              </a:rPr>
              <a:t>CAMADA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Calibri"/>
              </a:rPr>
              <a:t>Banco de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21945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PostgreSQL com Row Level Security, triggers e privilégios mínimos.</a:t>
            </a:r>
          </a:p>
        </p:txBody>
      </p:sp>
      <p:sp>
        <p:nvSpPr>
          <p:cNvPr id="20" name="Chevron 19"/>
          <p:cNvSpPr/>
          <p:nvPr/>
        </p:nvSpPr>
        <p:spPr>
          <a:xfrm>
            <a:off x="8814816" y="3703320"/>
            <a:ext cx="201168" cy="384048"/>
          </a:xfrm>
          <a:prstGeom prst="chevron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0" y="2286000"/>
            <a:ext cx="2560320" cy="31546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487168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E50914"/>
                </a:solidFill>
                <a:latin typeface="Calibri"/>
              </a:rPr>
              <a:t>CAMADA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Calibri"/>
              </a:rPr>
              <a:t>Regras de acesso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657600"/>
            <a:ext cx="21945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Aplicadas no servidor (rotas de API) e no banco (RLS). A interface apenas esconde o que não é permitido.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23560"/>
            <a:ext cx="11109960" cy="5029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Stack: Tailwind CSS 4  ·  Supabase  ·  driver pg no servidor  ·  GitHub Actions (CI)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62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2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9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26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92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58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24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56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22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88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254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86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52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518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584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716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 animBg="1"/>
      <p:bldP spid="26" grpId="0" animBg="1"/>
      <p:bldP spid="27" grpId="0"/>
      <p:bldP spid="28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321307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Achados e correções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spc="100">
                <a:solidFill>
                  <a:srgbClr val="94A3B8"/>
                </a:solidFill>
                <a:latin typeface="Calibri"/>
              </a:rPr>
              <a:t>CENÁRIOS DE AUTORIZAÇÃO DO BANCO (TOTAL: 47)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56032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0" y="2240280"/>
            <a:ext cx="5074920" cy="118872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2240280"/>
            <a:ext cx="73152" cy="1188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350008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Falhas corrigidas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9748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Escalonamento de papel, leitura anônima de perfis, pedido marcado como pago pelo cliente e TRUNCATE por usuários autenticados.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566160"/>
            <a:ext cx="5074920" cy="118872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566160"/>
            <a:ext cx="73152" cy="1188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675888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22 de 22 verificações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2336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Rotas de escrita da API retornam 401 sem token e com token forjado.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892040"/>
            <a:ext cx="5074920" cy="118872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E509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4892040"/>
            <a:ext cx="73152" cy="1188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5001768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Ação antes da publicação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4924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Credencial removida do código; a senha do banco deve ser redefinida no Supabase.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Graphic spid="6" grpId="0">
        <p:bldAsOne/>
      </p:bldGraphic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Roteiro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2286000"/>
            <a:ext cx="36576" cy="3749039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76272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103120"/>
            <a:ext cx="10195560" cy="566928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139696"/>
            <a:ext cx="98755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Entrar como atleta; navegar no catálogo e filtrar por modalidade.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43784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770632"/>
            <a:ext cx="10195560" cy="566928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807208"/>
            <a:ext cx="98755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Comprar um produto com PIX; abrir Perfil › Meus pedidos.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11296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438144"/>
            <a:ext cx="10195560" cy="566928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474720"/>
            <a:ext cx="98755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Denunciar uma publicação na comunidade.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178808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105656"/>
            <a:ext cx="10195560" cy="566928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4142232"/>
            <a:ext cx="98755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Entrar como supervisor; confirmar o pagamento do pedido e remover a publicação denunciada em Moderação da Comunidade.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773168"/>
            <a:ext cx="10195560" cy="566928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809744"/>
            <a:ext cx="98755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Mostrar que, como supervisor, o campo de papel aparece desabilitado na aba de usuários.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513831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5440679"/>
            <a:ext cx="10195560" cy="566928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5477255"/>
            <a:ext cx="987552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Entrar como administrador; alterar o papel de uma conta; mostrar que as contas-mestre aparecem com selo de equipe, sem campo de papel.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2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4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4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48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92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36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224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296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368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12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84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656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185415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TESTES E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Verificações automatizadas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29260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56032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E50914"/>
                </a:solidFill>
                <a:latin typeface="Calibri"/>
              </a:rPr>
              <a:t>47/47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cenários de autorização do banco (RLS, triggers e privilégios)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60320" cy="29260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256032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697480"/>
            <a:ext cx="2377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E50914"/>
                </a:solidFill>
                <a:latin typeface="Calibri"/>
              </a:rPr>
              <a:t>22/22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70332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verificações de 401 nas rotas de escrita da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560320" cy="29260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56032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697480"/>
            <a:ext cx="2377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E50914"/>
                </a:solidFill>
                <a:latin typeface="Calibri"/>
              </a:rPr>
              <a:t>0 erros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0332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de lint (23 avisos de imagem); type-check e build aprovados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286000"/>
            <a:ext cx="2560320" cy="29260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2286000"/>
            <a:ext cx="256032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697480"/>
            <a:ext cx="2377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E50914"/>
                </a:solidFill>
                <a:latin typeface="Calibri"/>
              </a:rPr>
              <a:t>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703320"/>
            <a:ext cx="2103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GitHub Actions a cada push e pull request para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Testes manuais de interface (compra, selo, moderação e papéis) estão previstos no plano de testes, com execução pela equipe.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6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46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24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2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5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3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14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92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4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326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404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63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716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3337560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LIMITAÇÕES E TRABALHOS FUTUROS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O que ainda não está pronto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40680" cy="38404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4068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8FAFC"/>
                </a:solidFill>
                <a:latin typeface="Calibri"/>
              </a:rPr>
              <a:t>Limitações</a:t>
            </a:r>
          </a:p>
        </p:txBody>
      </p:sp>
      <p:sp>
        <p:nvSpPr>
          <p:cNvPr id="8" name="Oval 7"/>
          <p:cNvSpPr/>
          <p:nvPr/>
        </p:nvSpPr>
        <p:spPr>
          <a:xfrm>
            <a:off x="978407" y="3419856"/>
            <a:ext cx="118872" cy="11887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291840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Pagamentos simulados (sem gateway)</a:t>
            </a:r>
          </a:p>
        </p:txBody>
      </p:sp>
      <p:sp>
        <p:nvSpPr>
          <p:cNvPr id="10" name="Oval 9"/>
          <p:cNvSpPr/>
          <p:nvPr/>
        </p:nvSpPr>
        <p:spPr>
          <a:xfrm>
            <a:off x="978407" y="4133087"/>
            <a:ext cx="118872" cy="11887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005072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SmartScan simulado (sem modelo de imagem)</a:t>
            </a:r>
          </a:p>
        </p:txBody>
      </p:sp>
      <p:sp>
        <p:nvSpPr>
          <p:cNvPr id="12" name="Oval 11"/>
          <p:cNvSpPr/>
          <p:nvPr/>
        </p:nvSpPr>
        <p:spPr>
          <a:xfrm>
            <a:off x="978407" y="4846320"/>
            <a:ext cx="118872" cy="11887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718304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Sem testes ponta a ponta de interface</a:t>
            </a:r>
          </a:p>
        </p:txBody>
      </p:sp>
      <p:sp>
        <p:nvSpPr>
          <p:cNvPr id="14" name="Oval 13"/>
          <p:cNvSpPr/>
          <p:nvPr/>
        </p:nvSpPr>
        <p:spPr>
          <a:xfrm>
            <a:off x="978407" y="5559551"/>
            <a:ext cx="118872" cy="11887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431536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Treinadores com dados estáticos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440680" cy="3840480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440680" cy="6400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6060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8FAFC"/>
                </a:solidFill>
                <a:latin typeface="Calibri"/>
              </a:rPr>
              <a:t>Trabalhos futuros</a:t>
            </a:r>
          </a:p>
        </p:txBody>
      </p:sp>
      <p:sp>
        <p:nvSpPr>
          <p:cNvPr id="19" name="Oval 18"/>
          <p:cNvSpPr/>
          <p:nvPr/>
        </p:nvSpPr>
        <p:spPr>
          <a:xfrm>
            <a:off x="6647688" y="3419856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291840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Integrar gateway de pagamento real</a:t>
            </a:r>
          </a:p>
        </p:txBody>
      </p:sp>
      <p:sp>
        <p:nvSpPr>
          <p:cNvPr id="21" name="Oval 20"/>
          <p:cNvSpPr/>
          <p:nvPr/>
        </p:nvSpPr>
        <p:spPr>
          <a:xfrm>
            <a:off x="6647688" y="4133087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005072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Testes ponta a ponta (ex.: Playwright) na integração contínua</a:t>
            </a:r>
          </a:p>
        </p:txBody>
      </p:sp>
      <p:sp>
        <p:nvSpPr>
          <p:cNvPr id="23" name="Oval 22"/>
          <p:cNvSpPr/>
          <p:nvPr/>
        </p:nvSpPr>
        <p:spPr>
          <a:xfrm>
            <a:off x="6647688" y="4846320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4718304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Servidor usando o token do usuário nas consultas, para a RLS valer também na API</a:t>
            </a:r>
          </a:p>
        </p:txBody>
      </p:sp>
      <p:sp>
        <p:nvSpPr>
          <p:cNvPr id="25" name="Oval 24"/>
          <p:cNvSpPr/>
          <p:nvPr/>
        </p:nvSpPr>
        <p:spPr>
          <a:xfrm>
            <a:off x="6647688" y="5559551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5431536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Calibri"/>
              </a:rPr>
              <a:t>Migrar treinadores e notícias para tabelas no banco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6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4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68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32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96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24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088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216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44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472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536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728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993391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LINKS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Calibri"/>
              </a:rPr>
              <a:t>Onde encontrar o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640080" cy="457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1109960" cy="512064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58568"/>
            <a:ext cx="54864" cy="2926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4389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Código-fonte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176272"/>
            <a:ext cx="62179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50914"/>
                </a:solidFill>
                <a:latin typeface="Calibri"/>
              </a:rPr>
              <a:t>https://github.com/MattheusHKrainski/-CoreMotion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109960" cy="512064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98648"/>
            <a:ext cx="54864" cy="2926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1"/>
            <a:ext cx="4389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Documentação (README e banco)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16351"/>
            <a:ext cx="62179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[link do README no GitHub]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11109960" cy="512064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538728"/>
            <a:ext cx="54864" cy="2926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Documento do TCC (ABNT)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456432"/>
            <a:ext cx="62179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[link de docs/tcc/TCC-CoreMotiom-ABNT.docx no GitHub]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79"/>
            <a:ext cx="11109960" cy="512064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78807"/>
            <a:ext cx="54864" cy="2926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96511"/>
            <a:ext cx="4389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Scripts de banco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096511"/>
            <a:ext cx="62179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[link de supabase/migrations/ no GitHub]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11109960" cy="512064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18888"/>
            <a:ext cx="54864" cy="2926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36592"/>
            <a:ext cx="4389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Sistema publicado (somente GitHub)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736592"/>
            <a:ext cx="62179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[a definir pela equipe]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9240"/>
            <a:ext cx="11109960" cy="512064"/>
          </a:xfrm>
          <a:prstGeom prst="roundRect">
            <a:avLst>
              <a:gd name="adj" fmla="val 7000"/>
            </a:avLst>
          </a:prstGeom>
          <a:solidFill>
            <a:srgbClr val="181B24"/>
          </a:solidFill>
          <a:ln w="12700">
            <a:solidFill>
              <a:srgbClr val="27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58968"/>
            <a:ext cx="54864" cy="2926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76672"/>
            <a:ext cx="4389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Apresentação (Google Slides ou PowerPoint Online)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376672"/>
            <a:ext cx="62179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[link a inserir]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1672" cy="9144"/>
          </a:xfrm>
          <a:prstGeom prst="rect">
            <a:avLst/>
          </a:prstGeom>
          <a:solidFill>
            <a:srgbClr val="27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 spc="60">
                <a:solidFill>
                  <a:srgbClr val="64748B"/>
                </a:solidFill>
                <a:latin typeface="Calibri"/>
              </a:rPr>
              <a:t>CoreMotiom  ·  Etapa 5 (TCC)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3825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4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4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/>
      <p:bldP spid="31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319"/>
            </a:gs>
            <a:gs pos="100000">
              <a:srgbClr val="07080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pa-tinta-flui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gradFill rotWithShape="1">
            <a:gsLst>
              <a:gs pos="0">
                <a:srgbClr val="0B0C10">
                  <a:alpha val="96000"/>
                </a:srgbClr>
              </a:gs>
              <a:gs pos="55000">
                <a:srgbClr val="0B0C10">
                  <a:alpha val="70000"/>
                </a:srgbClr>
              </a:gs>
              <a:gs pos="100000">
                <a:srgbClr val="0B0C10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5091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E50914"/>
                </a:solidFill>
                <a:latin typeface="Calibri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73152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 i="0">
                <a:solidFill>
                  <a:srgbClr val="F8FAFC"/>
                </a:solidFill>
                <a:latin typeface="Calibri"/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50914"/>
                </a:solidFill>
                <a:latin typeface="Calibri"/>
              </a:rPr>
              <a:t>Perguntas?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4389120"/>
            <a:ext cx="118872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4A3B8"/>
                </a:solidFill>
                <a:latin typeface="Calibri"/>
              </a:rPr>
              <a:t>Agradecimento ao professor orientador, Antonio Carlos.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 animBg="1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CoreMotiom: marketplace esportivo com lojas oficiais e venda entre atletas</dc:title>
  <dc:subject/>
  <dc:creator>Equipe CoreMotiom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