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Aprovados</c:v>
                </c:pt>
              </c:strCache>
            </c:strRef>
          </c:tx>
          <c:spPr>
            <a:solidFill>
              <a:srgbClr val="CBD5E1"/>
            </a:solidFill>
          </c:spPr>
          <c:cat>
            <c:strRef>
              <c:f>Sheet1!$A$2:$A$3</c:f>
              <c:strCache>
                <c:ptCount val="2"/>
                <c:pt idx="0">
                  <c:v>Linha de base (esquema inicial)</c:v>
                </c:pt>
                <c:pt idx="1">
                  <c:v>Esquema endurecido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</c:v>
                </c:pt>
                <c:pt idx="1">
                  <c:v>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Reprovados</c:v>
                </c:pt>
              </c:strCache>
            </c:strRef>
          </c:tx>
          <c:spPr>
            <a:solidFill>
              <a:srgbClr val="E50914"/>
            </a:solidFill>
          </c:spPr>
          <c:cat>
            <c:strRef>
              <c:f>Sheet1!$A$2:$A$3</c:f>
              <c:strCache>
                <c:ptCount val="2"/>
                <c:pt idx="0">
                  <c:v>Linha de base (esquema inicial)</c:v>
                </c:pt>
                <c:pt idx="1">
                  <c:v>Esquema endurecido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sz="1600">
                  <a:solidFill>
                    <a:srgbClr val="F8FAF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72C3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</c:scaling>
        <c:delete val="0"/>
        <c:axPos val="l"/>
        <c:majorGridlines>
          <c:spPr>
            <a:ln>
              <a:solidFill>
                <a:srgbClr val="272C3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0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8FAFC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4A3B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-tinta-flu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41732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50914"/>
                </a:solidFill>
                <a:latin typeface="Calibri"/>
              </a:rPr>
              <a:t>ETAPA 5 · TCC · MARKETPLACE ESPORTIVO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685800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0" b="1" i="0">
                <a:solidFill>
                  <a:srgbClr val="F8FAFC"/>
                </a:solidFill>
                <a:latin typeface="Calibri"/>
              </a:rPr>
              <a:t>CoreMotiom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5852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94A3B8"/>
                </a:solidFill>
                <a:latin typeface="Calibri"/>
              </a:rPr>
              <a:t>Marketplace esportivo com lojas oficiais e venda entre atletas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4434840"/>
            <a:ext cx="10972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Disciplina: Etapa 5 (TCC) · Professor: Antonio Carlos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4748B"/>
                </a:solidFill>
                <a:latin typeface="Calibri"/>
              </a:rPr>
              <a:t>Curso: [NOME DO CURSO] · Instituição: [NOME DA INSTITUIÇÃO]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Calibri"/>
              </a:rPr>
              <a:t>Equipe: [nomes em ordem numérica] · Data: [DATA DA APRESENTAÇÃO]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DAILY SCRUM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A equipe e os papéis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475488" y="1920240"/>
            <a:ext cx="2103120" cy="4114800"/>
            <a:chOff x="475488" y="1920240"/>
            <a:chExt cx="2103120" cy="4114800"/>
          </a:xfrm>
        </p:grpSpPr>
        <p:sp>
          <p:nvSpPr>
            <p:cNvPr id="6" name="Rounded Rectangle 5"/>
            <p:cNvSpPr/>
            <p:nvPr/>
          </p:nvSpPr>
          <p:spPr>
            <a:xfrm>
              <a:off x="475488" y="1920240"/>
              <a:ext cx="2103120" cy="411480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12648" y="2029968"/>
              <a:ext cx="109728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Nº 1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069848" y="2468880"/>
              <a:ext cx="914400" cy="914400"/>
            </a:xfrm>
            <a:prstGeom prst="ellipse">
              <a:avLst/>
            </a:prstGeom>
            <a:solidFill>
              <a:srgbClr val="1F232F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100" b="0" i="0">
                  <a:solidFill>
                    <a:srgbClr val="64748B"/>
                  </a:solidFill>
                  <a:latin typeface="Calibri"/>
                </a:rPr>
                <a:t>foto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66928" y="3566160"/>
              <a:ext cx="1920240" cy="5029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64748B"/>
                  </a:solidFill>
                  <a:latin typeface="Calibri"/>
                </a:rPr>
                <a:t>[nome completo]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66928" y="4114800"/>
              <a:ext cx="192024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[Scrum Master, Product Owner ou Developer]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66928" y="4937760"/>
              <a:ext cx="192024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 i="0">
                  <a:solidFill>
                    <a:srgbClr val="94A3B8"/>
                  </a:solidFill>
                  <a:latin typeface="Calibri"/>
                </a:rPr>
                <a:t>[função no projeto]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761488" y="1920240"/>
            <a:ext cx="2103120" cy="4114800"/>
            <a:chOff x="2761488" y="1920240"/>
            <a:chExt cx="2103120" cy="4114800"/>
          </a:xfrm>
        </p:grpSpPr>
        <p:sp>
          <p:nvSpPr>
            <p:cNvPr id="13" name="Rounded Rectangle 12"/>
            <p:cNvSpPr/>
            <p:nvPr/>
          </p:nvSpPr>
          <p:spPr>
            <a:xfrm>
              <a:off x="2761488" y="1920240"/>
              <a:ext cx="2103120" cy="411480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898648" y="2029968"/>
              <a:ext cx="109728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Nº 2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355848" y="2468880"/>
              <a:ext cx="914400" cy="914400"/>
            </a:xfrm>
            <a:prstGeom prst="ellipse">
              <a:avLst/>
            </a:prstGeom>
            <a:solidFill>
              <a:srgbClr val="1F232F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100" b="0" i="0">
                  <a:solidFill>
                    <a:srgbClr val="64748B"/>
                  </a:solidFill>
                  <a:latin typeface="Calibri"/>
                </a:rPr>
                <a:t>foto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52928" y="3566160"/>
              <a:ext cx="1920240" cy="5029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64748B"/>
                  </a:solidFill>
                  <a:latin typeface="Calibri"/>
                </a:rPr>
                <a:t>[nome completo]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852928" y="4114800"/>
              <a:ext cx="192024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[Scrum Master, Product Owner ou Developer]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52928" y="4937760"/>
              <a:ext cx="192024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 i="0">
                  <a:solidFill>
                    <a:srgbClr val="94A3B8"/>
                  </a:solidFill>
                  <a:latin typeface="Calibri"/>
                </a:rPr>
                <a:t>[função no projeto]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5047488" y="1920240"/>
            <a:ext cx="2103120" cy="4114800"/>
            <a:chOff x="5047488" y="1920240"/>
            <a:chExt cx="2103120" cy="4114800"/>
          </a:xfrm>
        </p:grpSpPr>
        <p:sp>
          <p:nvSpPr>
            <p:cNvPr id="20" name="Rounded Rectangle 19"/>
            <p:cNvSpPr/>
            <p:nvPr/>
          </p:nvSpPr>
          <p:spPr>
            <a:xfrm>
              <a:off x="5047488" y="1920240"/>
              <a:ext cx="2103120" cy="411480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184648" y="2029968"/>
              <a:ext cx="109728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Nº 3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5641848" y="2468880"/>
              <a:ext cx="914400" cy="914400"/>
            </a:xfrm>
            <a:prstGeom prst="ellipse">
              <a:avLst/>
            </a:prstGeom>
            <a:solidFill>
              <a:srgbClr val="1F232F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100" b="0" i="0">
                  <a:solidFill>
                    <a:srgbClr val="64748B"/>
                  </a:solidFill>
                  <a:latin typeface="Calibri"/>
                </a:rPr>
                <a:t>foto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38927" y="3566160"/>
              <a:ext cx="1920240" cy="5029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64748B"/>
                  </a:solidFill>
                  <a:latin typeface="Calibri"/>
                </a:rPr>
                <a:t>[nome completo]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138927" y="4114800"/>
              <a:ext cx="192024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[Scrum Master, Product Owner ou Developer]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138927" y="4937760"/>
              <a:ext cx="192024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 i="0">
                  <a:solidFill>
                    <a:srgbClr val="94A3B8"/>
                  </a:solidFill>
                  <a:latin typeface="Calibri"/>
                </a:rPr>
                <a:t>[função no projeto]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7333488" y="1920240"/>
            <a:ext cx="2103120" cy="4114800"/>
            <a:chOff x="7333488" y="1920240"/>
            <a:chExt cx="2103120" cy="4114800"/>
          </a:xfrm>
        </p:grpSpPr>
        <p:sp>
          <p:nvSpPr>
            <p:cNvPr id="27" name="Rounded Rectangle 26"/>
            <p:cNvSpPr/>
            <p:nvPr/>
          </p:nvSpPr>
          <p:spPr>
            <a:xfrm>
              <a:off x="7333488" y="1920240"/>
              <a:ext cx="2103120" cy="411480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70648" y="2029968"/>
              <a:ext cx="109728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Nº 4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7927848" y="2468880"/>
              <a:ext cx="914400" cy="914400"/>
            </a:xfrm>
            <a:prstGeom prst="ellipse">
              <a:avLst/>
            </a:prstGeom>
            <a:solidFill>
              <a:srgbClr val="1F232F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100" b="0" i="0">
                  <a:solidFill>
                    <a:srgbClr val="64748B"/>
                  </a:solidFill>
                  <a:latin typeface="Calibri"/>
                </a:rPr>
                <a:t>foto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424927" y="3566160"/>
              <a:ext cx="1920240" cy="5029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64748B"/>
                  </a:solidFill>
                  <a:latin typeface="Calibri"/>
                </a:rPr>
                <a:t>[nome completo]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424927" y="4114800"/>
              <a:ext cx="192024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[Scrum Master, Product Owner ou Developer]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424927" y="4937760"/>
              <a:ext cx="192024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 i="0">
                  <a:solidFill>
                    <a:srgbClr val="94A3B8"/>
                  </a:solidFill>
                  <a:latin typeface="Calibri"/>
                </a:rPr>
                <a:t>[função no projeto]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619488" y="1920240"/>
            <a:ext cx="2103120" cy="4114800"/>
            <a:chOff x="9619488" y="1920240"/>
            <a:chExt cx="2103120" cy="4114800"/>
          </a:xfrm>
        </p:grpSpPr>
        <p:sp>
          <p:nvSpPr>
            <p:cNvPr id="34" name="Rounded Rectangle 33"/>
            <p:cNvSpPr/>
            <p:nvPr/>
          </p:nvSpPr>
          <p:spPr>
            <a:xfrm>
              <a:off x="9619488" y="1920240"/>
              <a:ext cx="2103120" cy="411480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756648" y="2029968"/>
              <a:ext cx="109728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Nº 5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213848" y="2468880"/>
              <a:ext cx="914400" cy="914400"/>
            </a:xfrm>
            <a:prstGeom prst="ellipse">
              <a:avLst/>
            </a:prstGeom>
            <a:solidFill>
              <a:srgbClr val="1F232F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100" b="0" i="0">
                  <a:solidFill>
                    <a:srgbClr val="64748B"/>
                  </a:solidFill>
                  <a:latin typeface="Calibri"/>
                </a:rPr>
                <a:t>foto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710928" y="3566160"/>
              <a:ext cx="1920240" cy="5029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64748B"/>
                  </a:solidFill>
                  <a:latin typeface="Calibri"/>
                </a:rPr>
                <a:t>[nome completo]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710928" y="4114800"/>
              <a:ext cx="192024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[Scrum Master, Product Owner ou Developer]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710928" y="4937760"/>
              <a:ext cx="192024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 i="0">
                  <a:solidFill>
                    <a:srgbClr val="94A3B8"/>
                  </a:solidFill>
                  <a:latin typeface="Calibri"/>
                </a:rPr>
                <a:t>[função no projeto]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PROBLEMA E 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Por que um marketplace com controle de acesso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920240"/>
            <a:ext cx="5440680" cy="3383280"/>
            <a:chOff x="548640" y="1920240"/>
            <a:chExt cx="5440680" cy="3383280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920240"/>
              <a:ext cx="5440680" cy="338328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2148840"/>
              <a:ext cx="182880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4400" b="1" i="0">
                  <a:solidFill>
                    <a:srgbClr val="E50914"/>
                  </a:solidFill>
                  <a:latin typeface="Calibri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3017520"/>
              <a:ext cx="4754880" cy="5486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8FAFC"/>
                  </a:solidFill>
                  <a:latin typeface="Calibri"/>
                </a:rPr>
                <a:t>Canal único para compra e venda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3611880"/>
              <a:ext cx="4754880" cy="1463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700" b="0" i="0">
                  <a:solidFill>
                    <a:srgbClr val="94A3B8"/>
                  </a:solidFill>
                  <a:latin typeface="Calibri"/>
                </a:rPr>
                <a:t>Atletas e lojas de artigos esportivos precisam de um canal único para compra oficial e venda entre pessoas.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6263640" y="1920240"/>
            <a:ext cx="5440680" cy="3383280"/>
            <a:chOff x="6263640" y="1920240"/>
            <a:chExt cx="5440680" cy="3383280"/>
          </a:xfrm>
        </p:grpSpPr>
        <p:sp>
          <p:nvSpPr>
            <p:cNvPr id="11" name="Rounded Rectangle 10"/>
            <p:cNvSpPr/>
            <p:nvPr/>
          </p:nvSpPr>
          <p:spPr>
            <a:xfrm>
              <a:off x="6263640" y="1920240"/>
              <a:ext cx="5440680" cy="338328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29400" y="2148840"/>
              <a:ext cx="182880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4400" b="1" i="0">
                  <a:solidFill>
                    <a:srgbClr val="E50914"/>
                  </a:solidFill>
                  <a:latin typeface="Calibri"/>
                </a:rPr>
                <a:t>02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629400" y="3017520"/>
              <a:ext cx="4754880" cy="5486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8FAFC"/>
                  </a:solidFill>
                  <a:latin typeface="Calibri"/>
                </a:rPr>
                <a:t>Controle de acesso correto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29400" y="3611880"/>
              <a:ext cx="4754880" cy="1463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700" b="0" i="0">
                  <a:solidFill>
                    <a:srgbClr val="94A3B8"/>
                  </a:solidFill>
                  <a:latin typeface="Calibri"/>
                </a:rPr>
                <a:t>Marketplaces exigem controle de acesso correto: quem pode anunciar, moderar, verificar lojas e alterar papéis.</a:t>
              </a:r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548640" y="5577840"/>
            <a:ext cx="11155680" cy="64008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5875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8FAFC"/>
                </a:solidFill>
                <a:latin typeface="Calibri"/>
              </a:rPr>
              <a:t>Regra central: a autorização é responsabilidade do servidor e do banco, não apenas da tela.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O que o projeto se propõe a entregar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920240"/>
            <a:ext cx="4480560" cy="4114800"/>
            <a:chOff x="548640" y="1920240"/>
            <a:chExt cx="4480560" cy="4114800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920240"/>
              <a:ext cx="4480560" cy="411480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48640" y="1920240"/>
              <a:ext cx="82296" cy="4114800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2286000"/>
              <a:ext cx="3931920" cy="3657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 i="0">
                  <a:solidFill>
                    <a:srgbClr val="E50914"/>
                  </a:solidFill>
                  <a:latin typeface="Calibri"/>
                </a:rPr>
                <a:t>OBJETIVO GERAL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2743200"/>
              <a:ext cx="3931920" cy="292608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F8FAFC"/>
                  </a:solidFill>
                  <a:latin typeface="Calibri"/>
                </a:rPr>
                <a:t>Desenvolver e disponibilizar um marketplace esportivo com hierarquia de papéis.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5394960" y="1920240"/>
            <a:ext cx="6309360" cy="576072"/>
            <a:chOff x="5394960" y="1920240"/>
            <a:chExt cx="6309360" cy="576072"/>
          </a:xfrm>
        </p:grpSpPr>
        <p:sp>
          <p:nvSpPr>
            <p:cNvPr id="11" name="Rounded Rectangle 10"/>
            <p:cNvSpPr/>
            <p:nvPr/>
          </p:nvSpPr>
          <p:spPr>
            <a:xfrm>
              <a:off x="5394960" y="1920240"/>
              <a:ext cx="6309360" cy="576072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596128" y="2075688"/>
              <a:ext cx="274320" cy="27432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F8FAFC"/>
                  </a:solidFill>
                  <a:latin typeface="Calibri"/>
                </a:rPr>
                <a:t>✓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35040" y="201168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F8FAFC"/>
                  </a:solidFill>
                  <a:latin typeface="Calibri"/>
                </a:rPr>
                <a:t>Catálogo B2C e C2C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5394960" y="2624328"/>
            <a:ext cx="6309360" cy="576072"/>
            <a:chOff x="5394960" y="2624328"/>
            <a:chExt cx="6309360" cy="576072"/>
          </a:xfrm>
        </p:grpSpPr>
        <p:sp>
          <p:nvSpPr>
            <p:cNvPr id="15" name="Rounded Rectangle 14"/>
            <p:cNvSpPr/>
            <p:nvPr/>
          </p:nvSpPr>
          <p:spPr>
            <a:xfrm>
              <a:off x="5394960" y="2624328"/>
              <a:ext cx="6309360" cy="576072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596128" y="2779776"/>
              <a:ext cx="274320" cy="27432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F8FAFC"/>
                  </a:solidFill>
                  <a:latin typeface="Calibri"/>
                </a:rPr>
                <a:t>✓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035040" y="2715768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F8FAFC"/>
                  </a:solidFill>
                  <a:latin typeface="Calibri"/>
                </a:rPr>
                <a:t>Lojas com selo de verificação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394960" y="3328416"/>
            <a:ext cx="6309360" cy="576072"/>
            <a:chOff x="5394960" y="3328416"/>
            <a:chExt cx="6309360" cy="576072"/>
          </a:xfrm>
        </p:grpSpPr>
        <p:sp>
          <p:nvSpPr>
            <p:cNvPr id="19" name="Rounded Rectangle 18"/>
            <p:cNvSpPr/>
            <p:nvPr/>
          </p:nvSpPr>
          <p:spPr>
            <a:xfrm>
              <a:off x="5394960" y="3328416"/>
              <a:ext cx="6309360" cy="576072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5596128" y="3483864"/>
              <a:ext cx="274320" cy="27432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F8FAFC"/>
                  </a:solidFill>
                  <a:latin typeface="Calibri"/>
                </a:rPr>
                <a:t>✓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035040" y="3419856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F8FAFC"/>
                  </a:solidFill>
                  <a:latin typeface="Calibri"/>
                </a:rPr>
                <a:t>Compra com pagamento simulado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394960" y="4032504"/>
            <a:ext cx="6309360" cy="576072"/>
            <a:chOff x="5394960" y="4032504"/>
            <a:chExt cx="6309360" cy="576072"/>
          </a:xfrm>
        </p:grpSpPr>
        <p:sp>
          <p:nvSpPr>
            <p:cNvPr id="23" name="Rounded Rectangle 22"/>
            <p:cNvSpPr/>
            <p:nvPr/>
          </p:nvSpPr>
          <p:spPr>
            <a:xfrm>
              <a:off x="5394960" y="4032504"/>
              <a:ext cx="6309360" cy="576072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5596128" y="4187952"/>
              <a:ext cx="274320" cy="27432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F8FAFC"/>
                  </a:solidFill>
                  <a:latin typeface="Calibri"/>
                </a:rPr>
                <a:t>✓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035040" y="4123944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F8FAFC"/>
                  </a:solidFill>
                  <a:latin typeface="Calibri"/>
                </a:rPr>
                <a:t>Comunidade com moderação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5394960" y="4736592"/>
            <a:ext cx="6309360" cy="576072"/>
            <a:chOff x="5394960" y="4736592"/>
            <a:chExt cx="6309360" cy="576072"/>
          </a:xfrm>
        </p:grpSpPr>
        <p:sp>
          <p:nvSpPr>
            <p:cNvPr id="27" name="Rounded Rectangle 26"/>
            <p:cNvSpPr/>
            <p:nvPr/>
          </p:nvSpPr>
          <p:spPr>
            <a:xfrm>
              <a:off x="5394960" y="4736592"/>
              <a:ext cx="6309360" cy="576072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596128" y="4892040"/>
              <a:ext cx="274320" cy="27432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F8FAFC"/>
                  </a:solidFill>
                  <a:latin typeface="Calibri"/>
                </a:rPr>
                <a:t>✓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035040" y="4828031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F8FAFC"/>
                  </a:solidFill>
                  <a:latin typeface="Calibri"/>
                </a:rPr>
                <a:t>Painel de gestão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394960" y="5440680"/>
            <a:ext cx="6309360" cy="576072"/>
            <a:chOff x="5394960" y="5440680"/>
            <a:chExt cx="6309360" cy="576072"/>
          </a:xfrm>
        </p:grpSpPr>
        <p:sp>
          <p:nvSpPr>
            <p:cNvPr id="31" name="Rounded Rectangle 30"/>
            <p:cNvSpPr/>
            <p:nvPr/>
          </p:nvSpPr>
          <p:spPr>
            <a:xfrm>
              <a:off x="5394960" y="5440680"/>
              <a:ext cx="6309360" cy="576072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596128" y="5596128"/>
              <a:ext cx="274320" cy="27432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F8FAFC"/>
                  </a:solidFill>
                  <a:latin typeface="Calibri"/>
                </a:rPr>
                <a:t>✓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035040" y="553212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F8FAFC"/>
                  </a:solidFill>
                  <a:latin typeface="Calibri"/>
                </a:rPr>
                <a:t>Controle de acesso no banco de dados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5394960" y="6126480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Objetivos específicos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METODOLOGIA · SCRUM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Eventos e artefatos do ciclo de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920240"/>
            <a:ext cx="2651760" cy="1554480"/>
            <a:chOff x="548640" y="1920240"/>
            <a:chExt cx="2651760" cy="1554480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920240"/>
              <a:ext cx="2651760" cy="155448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200"/>
                </a:spcAft>
              </a:pPr>
              <a:r>
                <a:rPr sz="1300" b="1" i="0">
                  <a:solidFill>
                    <a:srgbClr val="E50914"/>
                  </a:solidFill>
                  <a:latin typeface="Calibri"/>
                </a:rPr>
                <a:t>1</a:t>
              </a:r>
            </a:p>
            <a:p>
              <a:pPr algn="ctr">
                <a:lnSpc>
                  <a:spcPct val="100000"/>
                </a:lnSpc>
                <a:spcAft>
                  <a:spcPts val="400"/>
                </a:spcAft>
              </a:pPr>
              <a:r>
                <a:rPr sz="1700" b="1" i="0">
                  <a:solidFill>
                    <a:srgbClr val="F8FAFC"/>
                  </a:solidFill>
                  <a:latin typeface="Calibri"/>
                </a:rPr>
                <a:t>Sprint Planning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0" i="0">
                  <a:solidFill>
                    <a:srgbClr val="94A3B8"/>
                  </a:solidFill>
                  <a:latin typeface="Calibri"/>
                </a:rPr>
                <a:t>Planejamento da sprint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83280" y="1920240"/>
            <a:ext cx="2651760" cy="1554480"/>
            <a:chOff x="3383280" y="1920240"/>
            <a:chExt cx="2651760" cy="1554480"/>
          </a:xfrm>
        </p:grpSpPr>
        <p:sp>
          <p:nvSpPr>
            <p:cNvPr id="8" name="Rounded Rectangle 7"/>
            <p:cNvSpPr/>
            <p:nvPr/>
          </p:nvSpPr>
          <p:spPr>
            <a:xfrm>
              <a:off x="3383280" y="1920240"/>
              <a:ext cx="2651760" cy="155448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E5091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200"/>
                </a:spcAft>
              </a:pPr>
              <a:r>
                <a:rPr sz="1300" b="1" i="0">
                  <a:solidFill>
                    <a:srgbClr val="E50914"/>
                  </a:solidFill>
                  <a:latin typeface="Calibri"/>
                </a:rPr>
                <a:t>2</a:t>
              </a:r>
            </a:p>
            <a:p>
              <a:pPr algn="ctr">
                <a:lnSpc>
                  <a:spcPct val="100000"/>
                </a:lnSpc>
                <a:spcAft>
                  <a:spcPts val="400"/>
                </a:spcAft>
              </a:pPr>
              <a:r>
                <a:rPr sz="1700" b="1" i="0">
                  <a:solidFill>
                    <a:srgbClr val="F8FAFC"/>
                  </a:solidFill>
                  <a:latin typeface="Calibri"/>
                </a:rPr>
                <a:t>Daily Scrum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0" i="0">
                  <a:solidFill>
                    <a:srgbClr val="94A3B8"/>
                  </a:solidFill>
                  <a:latin typeface="Calibri"/>
                </a:rPr>
                <a:t>Sincronização diária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6217920" y="1920240"/>
            <a:ext cx="2651760" cy="1554480"/>
            <a:chOff x="6217920" y="1920240"/>
            <a:chExt cx="2651760" cy="1554480"/>
          </a:xfrm>
        </p:grpSpPr>
        <p:sp>
          <p:nvSpPr>
            <p:cNvPr id="10" name="Rounded Rectangle 9"/>
            <p:cNvSpPr/>
            <p:nvPr/>
          </p:nvSpPr>
          <p:spPr>
            <a:xfrm>
              <a:off x="6217920" y="1920240"/>
              <a:ext cx="2651760" cy="155448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200"/>
                </a:spcAft>
              </a:pPr>
              <a:r>
                <a:rPr sz="1300" b="1" i="0">
                  <a:solidFill>
                    <a:srgbClr val="E50914"/>
                  </a:solidFill>
                  <a:latin typeface="Calibri"/>
                </a:rPr>
                <a:t>3</a:t>
              </a:r>
            </a:p>
            <a:p>
              <a:pPr algn="ctr">
                <a:lnSpc>
                  <a:spcPct val="100000"/>
                </a:lnSpc>
                <a:spcAft>
                  <a:spcPts val="400"/>
                </a:spcAft>
              </a:pPr>
              <a:r>
                <a:rPr sz="1700" b="1" i="0">
                  <a:solidFill>
                    <a:srgbClr val="F8FAFC"/>
                  </a:solidFill>
                  <a:latin typeface="Calibri"/>
                </a:rPr>
                <a:t>Sprint Review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0" i="0">
                  <a:solidFill>
                    <a:srgbClr val="94A3B8"/>
                  </a:solidFill>
                  <a:latin typeface="Calibri"/>
                </a:rPr>
                <a:t>Revisão do incremento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9052560" y="1920240"/>
            <a:ext cx="2651760" cy="1554480"/>
            <a:chOff x="9052560" y="1920240"/>
            <a:chExt cx="2651760" cy="1554480"/>
          </a:xfrm>
        </p:grpSpPr>
        <p:sp>
          <p:nvSpPr>
            <p:cNvPr id="12" name="Rounded Rectangle 11"/>
            <p:cNvSpPr/>
            <p:nvPr/>
          </p:nvSpPr>
          <p:spPr>
            <a:xfrm>
              <a:off x="9052560" y="1920240"/>
              <a:ext cx="2651760" cy="155448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200"/>
                </a:spcAft>
              </a:pPr>
              <a:r>
                <a:rPr sz="1300" b="1" i="0">
                  <a:solidFill>
                    <a:srgbClr val="E50914"/>
                  </a:solidFill>
                  <a:latin typeface="Calibri"/>
                </a:rPr>
                <a:t>4</a:t>
              </a:r>
            </a:p>
            <a:p>
              <a:pPr algn="ctr">
                <a:lnSpc>
                  <a:spcPct val="100000"/>
                </a:lnSpc>
                <a:spcAft>
                  <a:spcPts val="400"/>
                </a:spcAft>
              </a:pPr>
              <a:r>
                <a:rPr sz="1700" b="1" i="0">
                  <a:solidFill>
                    <a:srgbClr val="F8FAFC"/>
                  </a:solidFill>
                  <a:latin typeface="Calibri"/>
                </a:rPr>
                <a:t>Retrospectiva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0" i="0">
                  <a:solidFill>
                    <a:srgbClr val="94A3B8"/>
                  </a:solidFill>
                  <a:latin typeface="Calibri"/>
                </a:rPr>
                <a:t>Melhoria do processo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Calibri"/>
              </a:rPr>
              <a:t>ARTEFATOS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2148840" cy="502920"/>
          </a:xfrm>
          <a:prstGeom prst="roundRect">
            <a:avLst>
              <a:gd name="adj" fmla="val 50000"/>
            </a:avLst>
          </a:prstGeom>
          <a:solidFill>
            <a:srgbClr val="1F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Product Backlog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4206240"/>
            <a:ext cx="2148840" cy="502920"/>
          </a:xfrm>
          <a:prstGeom prst="roundRect">
            <a:avLst>
              <a:gd name="adj" fmla="val 50000"/>
            </a:avLst>
          </a:prstGeom>
          <a:solidFill>
            <a:srgbClr val="1F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Sprint Backlog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4206240"/>
            <a:ext cx="2148840" cy="502920"/>
          </a:xfrm>
          <a:prstGeom prst="roundRect">
            <a:avLst>
              <a:gd name="adj" fmla="val 50000"/>
            </a:avLst>
          </a:prstGeom>
          <a:solidFill>
            <a:srgbClr val="1F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Incremento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111319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64748B"/>
                </a:solidFill>
                <a:latin typeface="Calibri"/>
              </a:rPr>
              <a:t>[Inserir: número de sprints, datas e principais entregas de cada sprint]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REQUISITOS E 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Diagrama de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920240"/>
            <a:ext cx="1965960" cy="1554480"/>
            <a:chOff x="548640" y="1920240"/>
            <a:chExt cx="1965960" cy="1554480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920240"/>
              <a:ext cx="1965960" cy="155448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2057400"/>
              <a:ext cx="196596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 i="0">
                  <a:solidFill>
                    <a:srgbClr val="E50914"/>
                  </a:solidFill>
                  <a:latin typeface="Calibri"/>
                </a:rPr>
                <a:t>14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1965960" cy="3657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94A3B8"/>
                  </a:solidFill>
                  <a:latin typeface="Calibri"/>
                </a:rPr>
                <a:t>casos de uso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2697480" y="1920240"/>
            <a:ext cx="1965960" cy="1554480"/>
            <a:chOff x="2697480" y="1920240"/>
            <a:chExt cx="1965960" cy="1554480"/>
          </a:xfrm>
        </p:grpSpPr>
        <p:sp>
          <p:nvSpPr>
            <p:cNvPr id="10" name="Rounded Rectangle 9"/>
            <p:cNvSpPr/>
            <p:nvPr/>
          </p:nvSpPr>
          <p:spPr>
            <a:xfrm>
              <a:off x="2697480" y="1920240"/>
              <a:ext cx="1965960" cy="155448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697480" y="2057400"/>
              <a:ext cx="196596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 i="0">
                  <a:solidFill>
                    <a:srgbClr val="E50914"/>
                  </a:solidFill>
                  <a:latin typeface="Calibri"/>
                </a:rPr>
                <a:t>5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697480" y="2926080"/>
              <a:ext cx="1965960" cy="3657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94A3B8"/>
                  </a:solidFill>
                  <a:latin typeface="Calibri"/>
                </a:rPr>
                <a:t>atores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548640" y="3749039"/>
            <a:ext cx="4114800" cy="2286001"/>
            <a:chOff x="548640" y="3749039"/>
            <a:chExt cx="4114800" cy="2286001"/>
          </a:xfrm>
        </p:grpSpPr>
        <p:sp>
          <p:nvSpPr>
            <p:cNvPr id="14" name="Rounded Rectangle 13"/>
            <p:cNvSpPr/>
            <p:nvPr/>
          </p:nvSpPr>
          <p:spPr>
            <a:xfrm>
              <a:off x="548640" y="3749039"/>
              <a:ext cx="4114800" cy="2286000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7240" y="3931920"/>
              <a:ext cx="3749039" cy="21031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200"/>
                </a:spcAft>
              </a:pPr>
              <a:r>
                <a:rPr sz="1600" b="1" i="0">
                  <a:solidFill>
                    <a:srgbClr val="E50914"/>
                  </a:solidFill>
                  <a:latin typeface="Calibri"/>
                </a:rPr>
                <a:t>Uso geral</a:t>
              </a:r>
            </a:p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Visitante, Atleta e Lojista</a:t>
              </a:r>
            </a:p>
            <a:p>
              <a:pPr algn="l">
                <a:lnSpc>
                  <a:spcPct val="100000"/>
                </a:lnSpc>
                <a:spcAft>
                  <a:spcPts val="200"/>
                </a:spcAft>
              </a:pPr>
              <a:r>
                <a:rPr sz="1600" b="1" i="0">
                  <a:solidFill>
                    <a:srgbClr val="E50914"/>
                  </a:solidFill>
                  <a:latin typeface="Calibri"/>
                </a:rPr>
                <a:t>Gestão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Supervisor e Administrador</a:t>
              </a:r>
            </a:p>
          </p:txBody>
        </p:sp>
      </p:grpSp>
      <p:sp>
        <p:nvSpPr>
          <p:cNvPr id="16" name="Rounded Rectangle 15"/>
          <p:cNvSpPr/>
          <p:nvPr/>
        </p:nvSpPr>
        <p:spPr>
          <a:xfrm>
            <a:off x="5029200" y="1920240"/>
            <a:ext cx="667512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so-de-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922" y="2103120"/>
            <a:ext cx="4409674" cy="37490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HIERARQUIA DE PAPÉIS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Administrador › Supervisor › Lojista › Atleta › Visitante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3078327" y="1828800"/>
            <a:ext cx="6035040" cy="676656"/>
            <a:chOff x="3078327" y="1828800"/>
            <a:chExt cx="6035040" cy="676656"/>
          </a:xfrm>
        </p:grpSpPr>
        <p:sp>
          <p:nvSpPr>
            <p:cNvPr id="6" name="Rounded Rectangle 5"/>
            <p:cNvSpPr/>
            <p:nvPr/>
          </p:nvSpPr>
          <p:spPr>
            <a:xfrm>
              <a:off x="3078327" y="1828800"/>
              <a:ext cx="6035040" cy="676656"/>
            </a:xfrm>
            <a:prstGeom prst="roundRect">
              <a:avLst>
                <a:gd name="adj" fmla="val 6000"/>
              </a:avLst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06927" y="1920240"/>
              <a:ext cx="292608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 i="0">
                  <a:solidFill>
                    <a:srgbClr val="F8FAFC"/>
                  </a:solidFill>
                  <a:latin typeface="Calibri"/>
                </a:rPr>
                <a:t>Administrador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95847" y="1920240"/>
              <a:ext cx="278892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F8FAFC"/>
                  </a:solidFill>
                  <a:latin typeface="Calibri"/>
                </a:rPr>
                <a:t>todas as capacidades, exceto sobre contas-mestre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2621127" y="2651760"/>
            <a:ext cx="6949440" cy="676656"/>
            <a:chOff x="2621127" y="2651760"/>
            <a:chExt cx="6949440" cy="676656"/>
          </a:xfrm>
        </p:grpSpPr>
        <p:sp>
          <p:nvSpPr>
            <p:cNvPr id="10" name="Rounded Rectangle 9"/>
            <p:cNvSpPr/>
            <p:nvPr/>
          </p:nvSpPr>
          <p:spPr>
            <a:xfrm>
              <a:off x="2621127" y="2651760"/>
              <a:ext cx="6949440" cy="676656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849727" y="2743200"/>
              <a:ext cx="292608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 i="0">
                  <a:solidFill>
                    <a:srgbClr val="F8FAFC"/>
                  </a:solidFill>
                  <a:latin typeface="Calibri"/>
                </a:rPr>
                <a:t>Supervisor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638647" y="2743200"/>
              <a:ext cx="370332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modera, gerencia pedidos e verifica lojas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163927" y="3474720"/>
            <a:ext cx="7863840" cy="676656"/>
            <a:chOff x="2163927" y="3474720"/>
            <a:chExt cx="7863840" cy="676656"/>
          </a:xfrm>
        </p:grpSpPr>
        <p:sp>
          <p:nvSpPr>
            <p:cNvPr id="14" name="Rounded Rectangle 13"/>
            <p:cNvSpPr/>
            <p:nvPr/>
          </p:nvSpPr>
          <p:spPr>
            <a:xfrm>
              <a:off x="2163927" y="3474720"/>
              <a:ext cx="7863840" cy="676656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392527" y="3566160"/>
              <a:ext cx="292608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 i="0">
                  <a:solidFill>
                    <a:srgbClr val="F8FAFC"/>
                  </a:solidFill>
                  <a:latin typeface="Calibri"/>
                </a:rPr>
                <a:t>Lojista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181447" y="3566160"/>
              <a:ext cx="461772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atleta com loja própria (B2C)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1706727" y="4297680"/>
            <a:ext cx="8778240" cy="676656"/>
            <a:chOff x="1706727" y="4297680"/>
            <a:chExt cx="8778240" cy="676656"/>
          </a:xfrm>
        </p:grpSpPr>
        <p:sp>
          <p:nvSpPr>
            <p:cNvPr id="18" name="Rounded Rectangle 17"/>
            <p:cNvSpPr/>
            <p:nvPr/>
          </p:nvSpPr>
          <p:spPr>
            <a:xfrm>
              <a:off x="1706727" y="4297680"/>
              <a:ext cx="8778240" cy="676656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935327" y="4389120"/>
              <a:ext cx="292608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 i="0">
                  <a:solidFill>
                    <a:srgbClr val="F8FAFC"/>
                  </a:solidFill>
                  <a:latin typeface="Calibri"/>
                </a:rPr>
                <a:t>Atleta (Usuário)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724247" y="4389120"/>
              <a:ext cx="553212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compra, anuncia (C2C) e participa da comunidade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1249527" y="5120640"/>
            <a:ext cx="9692640" cy="676656"/>
            <a:chOff x="1249527" y="5120640"/>
            <a:chExt cx="9692640" cy="676656"/>
          </a:xfrm>
        </p:grpSpPr>
        <p:sp>
          <p:nvSpPr>
            <p:cNvPr id="22" name="Rounded Rectangle 21"/>
            <p:cNvSpPr/>
            <p:nvPr/>
          </p:nvSpPr>
          <p:spPr>
            <a:xfrm>
              <a:off x="1249527" y="5120640"/>
              <a:ext cx="9692640" cy="676656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478127" y="5212079"/>
              <a:ext cx="292608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 i="0">
                  <a:solidFill>
                    <a:srgbClr val="F8FAFC"/>
                  </a:solidFill>
                  <a:latin typeface="Calibri"/>
                </a:rPr>
                <a:t>Visitante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67047" y="5212079"/>
              <a:ext cx="6446520" cy="50292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navega na vitrine, sem escrita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548640" y="59436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Supervisor não altera papéis nem exclui contas. Administrador: exceto contas-mestre, que não podem ser suspensas, rebaixadas nem excluídas.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Camadas e responsabilidades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920240"/>
            <a:ext cx="2560320" cy="3474720"/>
            <a:chOff x="548640" y="1920240"/>
            <a:chExt cx="2560320" cy="3474720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920240"/>
              <a:ext cx="2560320" cy="347472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219456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CAMADA 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77240" y="2560320"/>
              <a:ext cx="219456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8FAFC"/>
                  </a:solidFill>
                  <a:latin typeface="Calibri"/>
                </a:rPr>
                <a:t>Frontend e API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77240" y="3520440"/>
              <a:ext cx="2194560" cy="18288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Next.js 15 (App Router), React 19 e TypeScript.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3108960" y="3474720"/>
            <a:ext cx="274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50914"/>
                </a:solidFill>
                <a:latin typeface="Calibri"/>
              </a:rPr>
              <a:t>›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3383280" y="1920240"/>
            <a:ext cx="2560320" cy="3474720"/>
            <a:chOff x="3383280" y="1920240"/>
            <a:chExt cx="2560320" cy="3474720"/>
          </a:xfrm>
        </p:grpSpPr>
        <p:sp>
          <p:nvSpPr>
            <p:cNvPr id="12" name="Rounded Rectangle 11"/>
            <p:cNvSpPr/>
            <p:nvPr/>
          </p:nvSpPr>
          <p:spPr>
            <a:xfrm>
              <a:off x="3383280" y="1920240"/>
              <a:ext cx="2560320" cy="347472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611880" y="2148840"/>
              <a:ext cx="219456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CAMADA 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11880" y="2560320"/>
              <a:ext cx="219456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8FAFC"/>
                  </a:solidFill>
                  <a:latin typeface="Calibri"/>
                </a:rPr>
                <a:t>Autenticação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11880" y="3520440"/>
              <a:ext cx="2194560" cy="18288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Supabase Auth com token JWT, validado no servidor a cada requisição.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5943600" y="3474720"/>
            <a:ext cx="274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50914"/>
                </a:solidFill>
                <a:latin typeface="Calibri"/>
              </a:rPr>
              <a:t>›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6217920" y="1920240"/>
            <a:ext cx="2560320" cy="3474720"/>
            <a:chOff x="6217920" y="1920240"/>
            <a:chExt cx="2560320" cy="3474720"/>
          </a:xfrm>
        </p:grpSpPr>
        <p:sp>
          <p:nvSpPr>
            <p:cNvPr id="18" name="Rounded Rectangle 17"/>
            <p:cNvSpPr/>
            <p:nvPr/>
          </p:nvSpPr>
          <p:spPr>
            <a:xfrm>
              <a:off x="6217920" y="1920240"/>
              <a:ext cx="2560320" cy="347472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46520" y="2148840"/>
              <a:ext cx="219456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CAMADA 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46520" y="2560320"/>
              <a:ext cx="219456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8FAFC"/>
                  </a:solidFill>
                  <a:latin typeface="Calibri"/>
                </a:rPr>
                <a:t>Banco de dados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46520" y="3520440"/>
              <a:ext cx="2194560" cy="18288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PostgreSQL com Row Level Security, triggers e privilégios mínimos.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8778240" y="3474720"/>
            <a:ext cx="274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50914"/>
                </a:solidFill>
                <a:latin typeface="Calibri"/>
              </a:rPr>
              <a:t>›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9052560" y="1920240"/>
            <a:ext cx="2560320" cy="3474720"/>
            <a:chOff x="9052560" y="1920240"/>
            <a:chExt cx="2560320" cy="3474720"/>
          </a:xfrm>
        </p:grpSpPr>
        <p:sp>
          <p:nvSpPr>
            <p:cNvPr id="24" name="Rounded Rectangle 23"/>
            <p:cNvSpPr/>
            <p:nvPr/>
          </p:nvSpPr>
          <p:spPr>
            <a:xfrm>
              <a:off x="9052560" y="1920240"/>
              <a:ext cx="2560320" cy="347472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E5091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281160" y="2148840"/>
              <a:ext cx="2194560" cy="32004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1" i="0">
                  <a:solidFill>
                    <a:srgbClr val="E50914"/>
                  </a:solidFill>
                  <a:latin typeface="Calibri"/>
                </a:rPr>
                <a:t>CAMADA 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281160" y="2560320"/>
              <a:ext cx="2194560" cy="822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8FAFC"/>
                  </a:solidFill>
                  <a:latin typeface="Calibri"/>
                </a:rPr>
                <a:t>Regras de acesso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281160" y="3520440"/>
              <a:ext cx="2194560" cy="18288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94A3B8"/>
                  </a:solidFill>
                  <a:latin typeface="Calibri"/>
                </a:rPr>
                <a:t>Aplicadas no servidor (rotas de API) e no banco (RLS). A interface apenas esconde o que não é permitido.</a:t>
              </a:r>
            </a:p>
          </p:txBody>
        </p:sp>
      </p:grpSp>
      <p:sp>
        <p:nvSpPr>
          <p:cNvPr id="28" name="Rounded Rectangle 27"/>
          <p:cNvSpPr/>
          <p:nvPr/>
        </p:nvSpPr>
        <p:spPr>
          <a:xfrm>
            <a:off x="548640" y="5623560"/>
            <a:ext cx="11155680" cy="54864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Stack: Tailwind CSS 4 · Supabase · driver pg no servidor · GitHub Actions (CI)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Achados e correções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94A3B8"/>
                </a:solidFill>
                <a:latin typeface="Calibri"/>
              </a:rPr>
              <a:t>Cenários de autorização do banco (total: 47)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219456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6675120" y="1920240"/>
            <a:ext cx="5029200" cy="1234440"/>
            <a:chOff x="6675120" y="1920240"/>
            <a:chExt cx="5029200" cy="1234440"/>
          </a:xfrm>
        </p:grpSpPr>
        <p:sp>
          <p:nvSpPr>
            <p:cNvPr id="8" name="Rounded Rectangle 7"/>
            <p:cNvSpPr/>
            <p:nvPr/>
          </p:nvSpPr>
          <p:spPr>
            <a:xfrm>
              <a:off x="6675120" y="1920240"/>
              <a:ext cx="5029200" cy="12344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675120" y="1920240"/>
              <a:ext cx="73152" cy="1234440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949440" y="2048256"/>
              <a:ext cx="4572000" cy="3657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Falhas corrigidas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949440" y="2395728"/>
              <a:ext cx="457200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 i="0">
                  <a:solidFill>
                    <a:srgbClr val="94A3B8"/>
                  </a:solidFill>
                  <a:latin typeface="Calibri"/>
                </a:rPr>
                <a:t>Escalonamento de papel, leitura anônima de perfis, pedido marcado como pago pelo cliente e TRUNCATE por usuários autenticados.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675120" y="3337560"/>
            <a:ext cx="5029200" cy="1234440"/>
            <a:chOff x="6675120" y="3337560"/>
            <a:chExt cx="5029200" cy="1234440"/>
          </a:xfrm>
        </p:grpSpPr>
        <p:sp>
          <p:nvSpPr>
            <p:cNvPr id="13" name="Rounded Rectangle 12"/>
            <p:cNvSpPr/>
            <p:nvPr/>
          </p:nvSpPr>
          <p:spPr>
            <a:xfrm>
              <a:off x="6675120" y="3337560"/>
              <a:ext cx="5029200" cy="12344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675120" y="3337560"/>
              <a:ext cx="73152" cy="1234440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49440" y="3465576"/>
              <a:ext cx="4572000" cy="3657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22 de 22 verificações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949440" y="3813048"/>
              <a:ext cx="457200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 i="0">
                  <a:solidFill>
                    <a:srgbClr val="94A3B8"/>
                  </a:solidFill>
                  <a:latin typeface="Calibri"/>
                </a:rPr>
                <a:t>Rotas de escrita da API retornam 401 sem token e com token forjado.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675120" y="4754880"/>
            <a:ext cx="5029200" cy="1234440"/>
            <a:chOff x="6675120" y="4754880"/>
            <a:chExt cx="5029200" cy="1234440"/>
          </a:xfrm>
        </p:grpSpPr>
        <p:sp>
          <p:nvSpPr>
            <p:cNvPr id="18" name="Rounded Rectangle 17"/>
            <p:cNvSpPr/>
            <p:nvPr/>
          </p:nvSpPr>
          <p:spPr>
            <a:xfrm>
              <a:off x="6675120" y="4754880"/>
              <a:ext cx="5029200" cy="12344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E5091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4754880"/>
              <a:ext cx="73152" cy="1234440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49440" y="4882896"/>
              <a:ext cx="4572000" cy="3657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E50914"/>
                  </a:solidFill>
                  <a:latin typeface="Calibri"/>
                </a:rPr>
                <a:t>Ação antes da publicação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49440" y="5230368"/>
              <a:ext cx="4572000" cy="73152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 i="0">
                  <a:solidFill>
                    <a:srgbClr val="94A3B8"/>
                  </a:solidFill>
                  <a:latin typeface="Calibri"/>
                </a:rPr>
                <a:t>Credencial removida do código; a senha do banco deve ser redefinida no Supabase.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Roteiro ao vivo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874519"/>
            <a:ext cx="11155680" cy="603504"/>
            <a:chOff x="548640" y="1874519"/>
            <a:chExt cx="11155680" cy="603504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874519"/>
              <a:ext cx="11155680" cy="603504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731520" y="1993391"/>
              <a:ext cx="365760" cy="36576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 i="0">
                  <a:solidFill>
                    <a:srgbClr val="F8FAFC"/>
                  </a:solidFill>
                  <a:latin typeface="Calibri"/>
                </a:rPr>
                <a:t>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25880" y="1929384"/>
              <a:ext cx="10149840" cy="512064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Entrar como atleta; navegar no catálogo e filtrar por modalidade.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548640" y="2606039"/>
            <a:ext cx="11155680" cy="603504"/>
            <a:chOff x="548640" y="2606039"/>
            <a:chExt cx="11155680" cy="603504"/>
          </a:xfrm>
        </p:grpSpPr>
        <p:sp>
          <p:nvSpPr>
            <p:cNvPr id="10" name="Rounded Rectangle 9"/>
            <p:cNvSpPr/>
            <p:nvPr/>
          </p:nvSpPr>
          <p:spPr>
            <a:xfrm>
              <a:off x="548640" y="2606039"/>
              <a:ext cx="11155680" cy="603504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731520" y="2724911"/>
              <a:ext cx="365760" cy="36576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 i="0">
                  <a:solidFill>
                    <a:srgbClr val="F8FAFC"/>
                  </a:solidFill>
                  <a:latin typeface="Calibri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25880" y="2660903"/>
              <a:ext cx="10149840" cy="512064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Comprar um produto com PIX; abrir Perfil › Meus pedidos.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548640" y="3337560"/>
            <a:ext cx="11155680" cy="603504"/>
            <a:chOff x="548640" y="3337560"/>
            <a:chExt cx="11155680" cy="603504"/>
          </a:xfrm>
        </p:grpSpPr>
        <p:sp>
          <p:nvSpPr>
            <p:cNvPr id="14" name="Rounded Rectangle 13"/>
            <p:cNvSpPr/>
            <p:nvPr/>
          </p:nvSpPr>
          <p:spPr>
            <a:xfrm>
              <a:off x="548640" y="3337560"/>
              <a:ext cx="11155680" cy="603504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731520" y="3456432"/>
              <a:ext cx="365760" cy="36576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 i="0">
                  <a:solidFill>
                    <a:srgbClr val="F8FAFC"/>
                  </a:solidFill>
                  <a:latin typeface="Calibri"/>
                </a:rPr>
                <a:t>3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325880" y="3392424"/>
              <a:ext cx="10149840" cy="512064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Denunciar uma publicação na comunidade.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548640" y="4069080"/>
            <a:ext cx="11155680" cy="603504"/>
            <a:chOff x="548640" y="4069080"/>
            <a:chExt cx="11155680" cy="603504"/>
          </a:xfrm>
        </p:grpSpPr>
        <p:sp>
          <p:nvSpPr>
            <p:cNvPr id="18" name="Rounded Rectangle 17"/>
            <p:cNvSpPr/>
            <p:nvPr/>
          </p:nvSpPr>
          <p:spPr>
            <a:xfrm>
              <a:off x="548640" y="4069080"/>
              <a:ext cx="11155680" cy="603504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731520" y="4187952"/>
              <a:ext cx="365760" cy="36576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 i="0">
                  <a:solidFill>
                    <a:srgbClr val="F8FAFC"/>
                  </a:solidFill>
                  <a:latin typeface="Calibri"/>
                </a:rPr>
                <a:t>4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25880" y="4123944"/>
              <a:ext cx="10149840" cy="512064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Entrar como supervisor; confirmar o pagamento do pedido e remover a publicação denunciada em Moderação da Comunidade.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48640" y="4800600"/>
            <a:ext cx="11155680" cy="603504"/>
            <a:chOff x="548640" y="4800600"/>
            <a:chExt cx="11155680" cy="603504"/>
          </a:xfrm>
        </p:grpSpPr>
        <p:sp>
          <p:nvSpPr>
            <p:cNvPr id="22" name="Rounded Rectangle 21"/>
            <p:cNvSpPr/>
            <p:nvPr/>
          </p:nvSpPr>
          <p:spPr>
            <a:xfrm>
              <a:off x="548640" y="4800600"/>
              <a:ext cx="11155680" cy="603504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31520" y="4919472"/>
              <a:ext cx="365760" cy="36576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 i="0">
                  <a:solidFill>
                    <a:srgbClr val="F8FAFC"/>
                  </a:solidFill>
                  <a:latin typeface="Calibri"/>
                </a:rPr>
                <a:t>5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325880" y="4855464"/>
              <a:ext cx="10149840" cy="512064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Mostrar que, como supervisor, o campo de papel aparece desabilitado na aba de usuários.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48640" y="5532120"/>
            <a:ext cx="11155680" cy="603504"/>
            <a:chOff x="548640" y="5532120"/>
            <a:chExt cx="11155680" cy="603504"/>
          </a:xfrm>
        </p:grpSpPr>
        <p:sp>
          <p:nvSpPr>
            <p:cNvPr id="26" name="Rounded Rectangle 25"/>
            <p:cNvSpPr/>
            <p:nvPr/>
          </p:nvSpPr>
          <p:spPr>
            <a:xfrm>
              <a:off x="548640" y="5532120"/>
              <a:ext cx="11155680" cy="603504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31520" y="5650992"/>
              <a:ext cx="365760" cy="365760"/>
            </a:xfrm>
            <a:prstGeom prst="ellipse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45720" rIns="45720" tIns="27432" bIns="2743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 i="0">
                  <a:solidFill>
                    <a:srgbClr val="F8FAFC"/>
                  </a:solidFill>
                  <a:latin typeface="Calibri"/>
                </a:rPr>
                <a:t>6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325880" y="5586983"/>
              <a:ext cx="10149840" cy="512064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F8FAFC"/>
                  </a:solidFill>
                  <a:latin typeface="Calibri"/>
                </a:rPr>
                <a:t>Entrar como administrador; alterar o papel de uma conta; mostrar que as contas-mestre aparecem com selo de equipe, sem campo de papel.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TESTES E VALIDAÇÃO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Verificações automatizadas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920240"/>
            <a:ext cx="2560320" cy="2834640"/>
            <a:chOff x="548640" y="1920240"/>
            <a:chExt cx="2560320" cy="2834640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920240"/>
              <a:ext cx="2560320" cy="28346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48640" y="1920240"/>
              <a:ext cx="2560320" cy="64008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85800" y="2286000"/>
              <a:ext cx="2286000" cy="82296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 i="0">
                  <a:solidFill>
                    <a:srgbClr val="E50914"/>
                  </a:solidFill>
                  <a:latin typeface="Calibri"/>
                </a:rPr>
                <a:t>47/47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31520" y="3246120"/>
              <a:ext cx="2194560" cy="13716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94A3B8"/>
                  </a:solidFill>
                  <a:latin typeface="Calibri"/>
                </a:rPr>
                <a:t>cenários de autorização do banco (RLS, triggers e privilégios)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3383280" y="1920240"/>
            <a:ext cx="2560320" cy="2834640"/>
            <a:chOff x="3383280" y="1920240"/>
            <a:chExt cx="2560320" cy="2834640"/>
          </a:xfrm>
        </p:grpSpPr>
        <p:sp>
          <p:nvSpPr>
            <p:cNvPr id="11" name="Rounded Rectangle 10"/>
            <p:cNvSpPr/>
            <p:nvPr/>
          </p:nvSpPr>
          <p:spPr>
            <a:xfrm>
              <a:off x="3383280" y="1920240"/>
              <a:ext cx="2560320" cy="28346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83280" y="1920240"/>
              <a:ext cx="2560320" cy="64008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20440" y="2286000"/>
              <a:ext cx="2286000" cy="82296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 i="0">
                  <a:solidFill>
                    <a:srgbClr val="E50914"/>
                  </a:solidFill>
                  <a:latin typeface="Calibri"/>
                </a:rPr>
                <a:t>22/22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566160" y="3246120"/>
              <a:ext cx="2194560" cy="13716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94A3B8"/>
                  </a:solidFill>
                  <a:latin typeface="Calibri"/>
                </a:rPr>
                <a:t>verificações de 401 nas rotas de escrita da API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217920" y="1920240"/>
            <a:ext cx="2560320" cy="2834640"/>
            <a:chOff x="6217920" y="1920240"/>
            <a:chExt cx="2560320" cy="2834640"/>
          </a:xfrm>
        </p:grpSpPr>
        <p:sp>
          <p:nvSpPr>
            <p:cNvPr id="16" name="Rounded Rectangle 15"/>
            <p:cNvSpPr/>
            <p:nvPr/>
          </p:nvSpPr>
          <p:spPr>
            <a:xfrm>
              <a:off x="6217920" y="1920240"/>
              <a:ext cx="2560320" cy="28346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17920" y="1920240"/>
              <a:ext cx="2560320" cy="64008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355080" y="2286000"/>
              <a:ext cx="2286000" cy="82296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 i="0">
                  <a:solidFill>
                    <a:srgbClr val="E50914"/>
                  </a:solidFill>
                  <a:latin typeface="Calibri"/>
                </a:rPr>
                <a:t>0 erros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00800" y="3246120"/>
              <a:ext cx="2194560" cy="13716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94A3B8"/>
                  </a:solidFill>
                  <a:latin typeface="Calibri"/>
                </a:rPr>
                <a:t>de lint (23 avisos de imagem); type-check e build aprovados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9052560" y="1920240"/>
            <a:ext cx="2560320" cy="2834640"/>
            <a:chOff x="9052560" y="1920240"/>
            <a:chExt cx="2560320" cy="2834640"/>
          </a:xfrm>
        </p:grpSpPr>
        <p:sp>
          <p:nvSpPr>
            <p:cNvPr id="21" name="Rounded Rectangle 20"/>
            <p:cNvSpPr/>
            <p:nvPr/>
          </p:nvSpPr>
          <p:spPr>
            <a:xfrm>
              <a:off x="9052560" y="1920240"/>
              <a:ext cx="2560320" cy="28346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052560" y="1920240"/>
              <a:ext cx="2560320" cy="64008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189720" y="2286000"/>
              <a:ext cx="2286000" cy="82296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 i="0">
                  <a:solidFill>
                    <a:srgbClr val="E50914"/>
                  </a:solidFill>
                  <a:latin typeface="Calibri"/>
                </a:rPr>
                <a:t>CI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235440" y="3246120"/>
              <a:ext cx="2194560" cy="13716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94A3B8"/>
                  </a:solidFill>
                  <a:latin typeface="Calibri"/>
                </a:rPr>
                <a:t>GitHub Actions a cada push e pull request para main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548640" y="51206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Testes manuais de interface (compra, selo, moderação e papéis) estão previstos no plano de testes, com execução pela equipe.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LIMITAÇÕES E 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O que ainda não está pronto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920240"/>
            <a:ext cx="5440680" cy="4206240"/>
            <a:chOff x="548640" y="1920240"/>
            <a:chExt cx="5440680" cy="4206240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920240"/>
              <a:ext cx="5440680" cy="42062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48640" y="1920240"/>
              <a:ext cx="5440680" cy="64008"/>
            </a:xfrm>
            <a:prstGeom prst="rect">
              <a:avLst/>
            </a:prstGeom>
            <a:solidFill>
              <a:srgbClr val="E509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2240280"/>
              <a:ext cx="4754880" cy="4572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E50914"/>
                  </a:solidFill>
                  <a:latin typeface="Calibri"/>
                </a:rPr>
                <a:t>Limitações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2926080"/>
              <a:ext cx="4754880" cy="3108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Pagamentos simulados (sem gateway)</a:t>
              </a:r>
            </a:p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SmartScan simulado (sem modelo de imagem)</a:t>
              </a:r>
            </a:p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Sem testes ponta a ponta de interface</a:t>
              </a:r>
            </a:p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Treinadores com dados estáticos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6263640" y="1920240"/>
            <a:ext cx="5440680" cy="4206240"/>
            <a:chOff x="6263640" y="1920240"/>
            <a:chExt cx="5440680" cy="4206240"/>
          </a:xfrm>
        </p:grpSpPr>
        <p:sp>
          <p:nvSpPr>
            <p:cNvPr id="11" name="Rounded Rectangle 10"/>
            <p:cNvSpPr/>
            <p:nvPr/>
          </p:nvSpPr>
          <p:spPr>
            <a:xfrm>
              <a:off x="6263640" y="1920240"/>
              <a:ext cx="5440680" cy="4206240"/>
            </a:xfrm>
            <a:prstGeom prst="roundRect">
              <a:avLst>
                <a:gd name="adj" fmla="val 6000"/>
              </a:avLst>
            </a:prstGeom>
            <a:solidFill>
              <a:srgbClr val="181B24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63640" y="1920240"/>
              <a:ext cx="5440680" cy="64008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629400" y="2240280"/>
              <a:ext cx="4754880" cy="45720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8FAFC"/>
                  </a:solidFill>
                  <a:latin typeface="Calibri"/>
                </a:rPr>
                <a:t>Trabalhos futuros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29400" y="2926080"/>
              <a:ext cx="4754880" cy="3108960"/>
            </a:xfrm>
            <a:prstGeom prst="rect">
              <a:avLst/>
            </a:prstGeom>
            <a:noFill/>
          </p:spPr>
          <p:txBody>
            <a:bodyPr wrap="square" anchor="t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Integrar gateway de pagamento real</a:t>
              </a:r>
            </a:p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Testes ponta a ponta (ex.: Playwright) na integração contínua</a:t>
              </a:r>
            </a:p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Servidor usando o token do usuário nas consultas, para a RLS valer também na API</a:t>
              </a:r>
            </a:p>
            <a:p>
              <a:pPr algn="l">
                <a:lnSpc>
                  <a:spcPct val="100000"/>
                </a:lnSpc>
                <a:spcAft>
                  <a:spcPts val="1200"/>
                </a:spcAft>
              </a:pPr>
              <a:r>
                <a:rPr sz="1700" b="0" i="0">
                  <a:solidFill>
                    <a:srgbClr val="F8FAFC"/>
                  </a:solidFill>
                  <a:latin typeface="Calibri"/>
                </a:rPr>
                <a:t>•   Migrar treinadores e notícias para tabelas no banco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LINKS DO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Calibri"/>
              </a:rPr>
              <a:t>Onde encontrar o material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463040"/>
            <a:ext cx="82296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548640" y="1874519"/>
            <a:ext cx="11155680" cy="585216"/>
            <a:chOff x="548640" y="1874519"/>
            <a:chExt cx="11155680" cy="585216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1874519"/>
              <a:ext cx="11155680" cy="585216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947672"/>
              <a:ext cx="43891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Código-fonte completo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03520" y="1947672"/>
              <a:ext cx="62179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E50914"/>
                  </a:solidFill>
                  <a:latin typeface="Calibri"/>
                </a:rPr>
                <a:t>https://github.com/MattheusHKrainski/-CoreMotion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548640" y="2587752"/>
            <a:ext cx="11155680" cy="585216"/>
            <a:chOff x="548640" y="2587752"/>
            <a:chExt cx="11155680" cy="585216"/>
          </a:xfrm>
        </p:grpSpPr>
        <p:sp>
          <p:nvSpPr>
            <p:cNvPr id="10" name="Rounded Rectangle 9"/>
            <p:cNvSpPr/>
            <p:nvPr/>
          </p:nvSpPr>
          <p:spPr>
            <a:xfrm>
              <a:off x="548640" y="2587752"/>
              <a:ext cx="11155680" cy="585216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22960" y="2660904"/>
              <a:ext cx="43891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Documentação (README e banco)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03520" y="2660904"/>
              <a:ext cx="62179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64748B"/>
                  </a:solidFill>
                  <a:latin typeface="Calibri"/>
                </a:rPr>
                <a:t>[link do README no GitHub]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548640" y="3300984"/>
            <a:ext cx="11155680" cy="585216"/>
            <a:chOff x="548640" y="3300984"/>
            <a:chExt cx="11155680" cy="585216"/>
          </a:xfrm>
        </p:grpSpPr>
        <p:sp>
          <p:nvSpPr>
            <p:cNvPr id="14" name="Rounded Rectangle 13"/>
            <p:cNvSpPr/>
            <p:nvPr/>
          </p:nvSpPr>
          <p:spPr>
            <a:xfrm>
              <a:off x="548640" y="3300984"/>
              <a:ext cx="11155680" cy="585216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22960" y="3374136"/>
              <a:ext cx="43891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Documento do TCC (ABNT)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03520" y="3374136"/>
              <a:ext cx="62179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64748B"/>
                  </a:solidFill>
                  <a:latin typeface="Calibri"/>
                </a:rPr>
                <a:t>[link de docs/tcc/TCC-CoreMotiom-ABNT.docx no GitHub]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548640" y="4014215"/>
            <a:ext cx="11155680" cy="585216"/>
            <a:chOff x="548640" y="4014215"/>
            <a:chExt cx="11155680" cy="585216"/>
          </a:xfrm>
        </p:grpSpPr>
        <p:sp>
          <p:nvSpPr>
            <p:cNvPr id="18" name="Rounded Rectangle 17"/>
            <p:cNvSpPr/>
            <p:nvPr/>
          </p:nvSpPr>
          <p:spPr>
            <a:xfrm>
              <a:off x="548640" y="4014215"/>
              <a:ext cx="11155680" cy="585216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22960" y="4087368"/>
              <a:ext cx="43891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Scripts de banco de dados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03520" y="4087368"/>
              <a:ext cx="62179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64748B"/>
                  </a:solidFill>
                  <a:latin typeface="Calibri"/>
                </a:rPr>
                <a:t>[link de supabase/migrations/ no GitHub]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48640" y="4727448"/>
            <a:ext cx="11155680" cy="585216"/>
            <a:chOff x="548640" y="4727448"/>
            <a:chExt cx="11155680" cy="585216"/>
          </a:xfrm>
        </p:grpSpPr>
        <p:sp>
          <p:nvSpPr>
            <p:cNvPr id="22" name="Rounded Rectangle 21"/>
            <p:cNvSpPr/>
            <p:nvPr/>
          </p:nvSpPr>
          <p:spPr>
            <a:xfrm>
              <a:off x="548640" y="4727448"/>
              <a:ext cx="11155680" cy="585216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2960" y="4800600"/>
              <a:ext cx="43891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Sistema publicado (somente GitHub)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03520" y="4800600"/>
              <a:ext cx="62179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64748B"/>
                  </a:solidFill>
                  <a:latin typeface="Calibri"/>
                </a:rPr>
                <a:t>[a definir pela equipe]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48640" y="5440680"/>
            <a:ext cx="11155680" cy="585216"/>
            <a:chOff x="548640" y="5440680"/>
            <a:chExt cx="11155680" cy="585216"/>
          </a:xfrm>
        </p:grpSpPr>
        <p:sp>
          <p:nvSpPr>
            <p:cNvPr id="26" name="Rounded Rectangle 25"/>
            <p:cNvSpPr/>
            <p:nvPr/>
          </p:nvSpPr>
          <p:spPr>
            <a:xfrm>
              <a:off x="548640" y="5440680"/>
              <a:ext cx="11155680" cy="585216"/>
            </a:xfrm>
            <a:prstGeom prst="roundRect">
              <a:avLst>
                <a:gd name="adj" fmla="val 6000"/>
              </a:avLst>
            </a:prstGeom>
            <a:solidFill>
              <a:srgbClr val="111319"/>
            </a:solidFill>
            <a:ln w="15875">
              <a:solidFill>
                <a:srgbClr val="272C3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22960" y="5513832"/>
              <a:ext cx="43891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 i="0">
                  <a:solidFill>
                    <a:srgbClr val="F8FAFC"/>
                  </a:solidFill>
                  <a:latin typeface="Calibri"/>
                </a:rPr>
                <a:t>Apresentação (Google Slides ou PowerPoint Online)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303520" y="5513832"/>
              <a:ext cx="6217920" cy="4572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64748B"/>
                  </a:solidFill>
                  <a:latin typeface="Calibri"/>
                </a:rPr>
                <a:t>[link a inserir]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CoreMotiom · Etapa 5 (TCC)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382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-tinta-flu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1031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 i="0">
                <a:solidFill>
                  <a:srgbClr val="F8FAFC"/>
                </a:solidFill>
                <a:latin typeface="Calibri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50914"/>
                </a:solidFill>
                <a:latin typeface="Calibri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4114800"/>
            <a:ext cx="10972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94A3B8"/>
                </a:solidFill>
                <a:latin typeface="Calibri"/>
              </a:rPr>
              <a:t>Agradecimento ao professor orientador, Antonio Carlos.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CoreMotiom: marketplace esportivo com lojas oficiais e venda entre atletas</dc:title>
  <dc:subject/>
  <dc:creator>Equipe CoreMotiom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