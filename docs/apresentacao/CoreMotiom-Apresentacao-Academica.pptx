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52360" y="1051560"/>
            <a:ext cx="4206240" cy="4937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ike-air-force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417320"/>
            <a:ext cx="36576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26679" y="5212080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libri"/>
              </a:rPr>
              <a:t>Catálogo do marketplace: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libri"/>
              </a:rPr>
              <a:t>produtos com fotos reais no repositório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6583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PROJETO ACADÊMICO • ENGENHARIA DE SOFTWARE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83080"/>
            <a:ext cx="6675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0F172A"/>
                </a:solidFill>
                <a:latin typeface="Calibri"/>
              </a:rPr>
              <a:t>CoreMotiom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88920"/>
            <a:ext cx="6492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DC2626"/>
                </a:solidFill>
                <a:latin typeface="Calibri"/>
              </a:rPr>
              <a:t>Marketplace &amp; Plataforma Esportiva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DC2626"/>
                </a:solidFill>
                <a:latin typeface="Calibri"/>
              </a:rPr>
              <a:t>de Alta Performance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3794760"/>
            <a:ext cx="1280160" cy="457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023360"/>
            <a:ext cx="6492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34155"/>
                </a:solidFill>
                <a:latin typeface="Calibri"/>
              </a:rPr>
              <a:t>Lojas oficiais verificadas · venda C2C entre atletas ·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34155"/>
                </a:solidFill>
                <a:latin typeface="Calibri"/>
              </a:rPr>
              <a:t>custódia financeira (escrow) · treinadores e comunidade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394960"/>
            <a:ext cx="6492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Desenvolvimento: </a:t>
            </a:r>
            <a:r>
              <a:rPr sz="1250" b="1">
                <a:solidFill>
                  <a:srgbClr val="0F172A"/>
                </a:solidFill>
                <a:latin typeface="Calibri"/>
              </a:rPr>
              <a:t>Mattheus</a:t>
            </a:r>
            <a:r>
              <a:rPr sz="1250" b="0">
                <a:solidFill>
                  <a:srgbClr val="64748B"/>
                </a:solidFill>
                <a:latin typeface="Calibri"/>
              </a:rPr>
              <a:t>  ·  github.com/MattheusHKrainski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Curitiba — outubro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56032" cy="25603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C2626"/>
                </a:solidFill>
                <a:latin typeface="Calibri"/>
              </a:rPr>
              <a:t>CONTEXTUALIZAÇÃO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O problema que o projeto resolve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1051560" cy="457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59436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DC2626"/>
                </a:solidFill>
                <a:latin typeface="Calibri"/>
              </a:rPr>
              <a:t>▪  </a:t>
            </a:r>
            <a:r>
              <a:rPr sz="1450" b="0">
                <a:solidFill>
                  <a:srgbClr val="334155"/>
                </a:solidFill>
                <a:latin typeface="Calibri"/>
              </a:rPr>
              <a:t>Equipamentos de alta performance (tênis com placa de carbono, GPS, compressão) têm alto custo e forte mercado de revenda.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DC2626"/>
                </a:solidFill>
                <a:latin typeface="Calibri"/>
              </a:rPr>
              <a:t>▪  </a:t>
            </a:r>
            <a:r>
              <a:rPr sz="1450" b="0">
                <a:solidFill>
                  <a:srgbClr val="334155"/>
                </a:solidFill>
                <a:latin typeface="Calibri"/>
              </a:rPr>
              <a:t>A revenda entre atletas ocorre em canais genéricos: sem inspeção de desgaste, sem preço de referência e com risco de golpe.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DC2626"/>
                </a:solidFill>
                <a:latin typeface="Calibri"/>
              </a:rPr>
              <a:t>▪  </a:t>
            </a:r>
            <a:r>
              <a:rPr sz="1450" b="0">
                <a:solidFill>
                  <a:srgbClr val="334155"/>
                </a:solidFill>
                <a:latin typeface="Calibri"/>
              </a:rPr>
              <a:t>Lojas esportivas online convivem com falsificações e não possuem selo de verificação confiável no varejo generalista.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DC2626"/>
                </a:solidFill>
                <a:latin typeface="Calibri"/>
              </a:rPr>
              <a:t>▪  </a:t>
            </a:r>
            <a:r>
              <a:rPr sz="1450" b="0">
                <a:solidFill>
                  <a:srgbClr val="334155"/>
                </a:solidFill>
                <a:latin typeface="Calibri"/>
              </a:rPr>
              <a:t>Não havia plataforma vertical integrando marketplace, custódia financeira, treinadores e comunidade em um só produto.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691640"/>
            <a:ext cx="4800600" cy="3977639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22592" y="1837944"/>
            <a:ext cx="201168" cy="2011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810512"/>
            <a:ext cx="4160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Evidências no código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9168" y="2167128"/>
            <a:ext cx="4398264" cy="34107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Tela “Vender C2C” bloqueia visitantes: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“proteção anti-golpe” (app/page.tsx)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Solicitação de selo oficial com CNPJ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(components/StoresView.tsx)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Status de pedido com escrow: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escrow_locked (types/supabase.ts)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CoreMotiom — Apresentação Acadêmica de Projeto  •  Curitiba, outubro de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46520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56032" cy="25603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C2626"/>
                </a:solidFill>
                <a:latin typeface="Calibri"/>
              </a:rPr>
              <a:t>OBJETIVOS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Objetivo geral e específicos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1051560" cy="457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11091672" cy="1051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837944"/>
            <a:ext cx="201168" cy="2011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10512"/>
            <a:ext cx="104515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Objetivo geral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167128"/>
            <a:ext cx="10689336" cy="4846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334155"/>
                </a:solidFill>
                <a:latin typeface="Calibri"/>
              </a:rPr>
              <a:t>Desenvolver uma plataforma web que integre um marketplace esportivo híbrido (B2C + C2C) com custódia financeira, lojas oficiais verificadas e serviços para atletas.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0175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DC2626"/>
                </a:solidFill>
                <a:latin typeface="Calibri"/>
              </a:rPr>
              <a:t>OBJETIVOS ESPECÍFICOS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01568"/>
            <a:ext cx="110642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DC2626"/>
                </a:solidFill>
                <a:latin typeface="Calibri"/>
              </a:rPr>
              <a:t>▪  </a:t>
            </a:r>
            <a:r>
              <a:rPr sz="1400" b="0">
                <a:solidFill>
                  <a:srgbClr val="334155"/>
                </a:solidFill>
                <a:latin typeface="Calibri"/>
              </a:rPr>
              <a:t>Implementar verificação de lojas oficiais com CNPJ e selo “Verificado”.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DC2626"/>
                </a:solidFill>
                <a:latin typeface="Calibri"/>
              </a:rPr>
              <a:t>▪  </a:t>
            </a:r>
            <a:r>
              <a:rPr sz="1400" b="0">
                <a:solidFill>
                  <a:srgbClr val="334155"/>
                </a:solidFill>
                <a:latin typeface="Calibri"/>
              </a:rPr>
              <a:t>Proteger vendas C2C com pagamento retido em custódia (escrow) até a confirmação do pedido.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DC2626"/>
                </a:solidFill>
                <a:latin typeface="Calibri"/>
              </a:rPr>
              <a:t>▪  </a:t>
            </a:r>
            <a:r>
              <a:rPr sz="1400" b="0">
                <a:solidFill>
                  <a:srgbClr val="334155"/>
                </a:solidFill>
                <a:latin typeface="Calibri"/>
              </a:rPr>
              <a:t>Oferecer checkout com PIX (5% de desconto), cartão de crédito e boleto.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DC2626"/>
                </a:solidFill>
                <a:latin typeface="Calibri"/>
              </a:rPr>
              <a:t>▪  </a:t>
            </a:r>
            <a:r>
              <a:rPr sz="1400" b="0">
                <a:solidFill>
                  <a:srgbClr val="334155"/>
                </a:solidFill>
                <a:latin typeface="Calibri"/>
              </a:rPr>
              <a:t>Integrar comunidade esportiva, treinadores com CREF e notícias ao ecossistema.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DC2626"/>
                </a:solidFill>
                <a:latin typeface="Calibri"/>
              </a:rPr>
              <a:t>▪  </a:t>
            </a:r>
            <a:r>
              <a:rPr sz="1400" b="0">
                <a:solidFill>
                  <a:srgbClr val="334155"/>
                </a:solidFill>
                <a:latin typeface="Calibri"/>
              </a:rPr>
              <a:t>Garantir segurança de dados com Row Level Security (RLS) e perfis de acesso.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DC2626"/>
                </a:solidFill>
                <a:latin typeface="Calibri"/>
              </a:rPr>
              <a:t>▪  </a:t>
            </a:r>
            <a:r>
              <a:rPr sz="1400" b="0">
                <a:solidFill>
                  <a:srgbClr val="334155"/>
                </a:solidFill>
                <a:latin typeface="Calibri"/>
              </a:rPr>
              <a:t>Prover painel administrativo de auditoria, moderação e custódia.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CoreMotiom — Apresentação Acadêmica de Projeto  •  Curitiba, outubro de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446520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56032" cy="25603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C2626"/>
                </a:solidFill>
                <a:latin typeface="Calibri"/>
              </a:rPr>
              <a:t>JUSTIFICATIVA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Por que este projeto é relevante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1051560" cy="457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6424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>
                <a:solidFill>
                  <a:srgbClr val="DC2626"/>
                </a:solidFill>
                <a:latin typeface="Calibri"/>
              </a:rPr>
              <a:t>▪  </a:t>
            </a:r>
            <a:r>
              <a:rPr sz="1550" b="0">
                <a:solidFill>
                  <a:srgbClr val="334155"/>
                </a:solidFill>
                <a:latin typeface="Calibri"/>
              </a:rPr>
              <a:t>O crescimento da corrida de rua e dos esportes de performance no Brasil amplia o mercado de equipamentos novos e seminovos.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>
                <a:solidFill>
                  <a:srgbClr val="DC2626"/>
                </a:solidFill>
                <a:latin typeface="Calibri"/>
              </a:rPr>
              <a:t>▪  </a:t>
            </a:r>
            <a:r>
              <a:rPr sz="1550" b="0">
                <a:solidFill>
                  <a:srgbClr val="334155"/>
                </a:solidFill>
                <a:latin typeface="Calibri"/>
              </a:rPr>
              <a:t>Confiança é o principal entrave da revenda C2C: assimetria de informação sobre desgaste, autenticidade e preço justo.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>
                <a:solidFill>
                  <a:srgbClr val="DC2626"/>
                </a:solidFill>
                <a:latin typeface="Calibri"/>
              </a:rPr>
              <a:t>▪  </a:t>
            </a:r>
            <a:r>
              <a:rPr sz="1550" b="0">
                <a:solidFill>
                  <a:srgbClr val="334155"/>
                </a:solidFill>
                <a:latin typeface="Calibri"/>
              </a:rPr>
              <a:t>Supabase com RLS permite segurança em nível de banco de dados — prática de produção aplicada já no MVP acadêmico.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>
                <a:solidFill>
                  <a:srgbClr val="DC2626"/>
                </a:solidFill>
                <a:latin typeface="Calibri"/>
              </a:rPr>
              <a:t>▪  </a:t>
            </a:r>
            <a:r>
              <a:rPr sz="1550" b="0">
                <a:solidFill>
                  <a:srgbClr val="334155"/>
                </a:solidFill>
                <a:latin typeface="Calibri"/>
              </a:rPr>
              <a:t>O projeto consolida competências de engenharia: React/Next.js, TypeScript estrito, SQL, segurança e UX.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>
                <a:solidFill>
                  <a:srgbClr val="DC2626"/>
                </a:solidFill>
                <a:latin typeface="Calibri"/>
              </a:rPr>
              <a:t>▪  </a:t>
            </a:r>
            <a:r>
              <a:rPr sz="1550" b="0">
                <a:solidFill>
                  <a:srgbClr val="334155"/>
                </a:solidFill>
                <a:latin typeface="Calibri"/>
              </a:rPr>
              <a:t>Serve como base replicável: governança de Git, migrações versionadas e tipagem de ponta a ponta documentadas em CONTRIBUTING.md.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CoreMotiom — Apresentação Acadêmica de Projeto  •  Curitiba, outubro de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56032" cy="25603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C2626"/>
                </a:solidFill>
                <a:latin typeface="Calibri"/>
              </a:rPr>
              <a:t>METODOLOGIA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Processo de desenvolvimento e qualidade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1051560" cy="457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6424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DC2626"/>
                </a:solidFill>
                <a:latin typeface="Calibri"/>
              </a:rPr>
              <a:t>▪  </a:t>
            </a:r>
            <a:r>
              <a:rPr sz="1450" b="0">
                <a:solidFill>
                  <a:srgbClr val="334155"/>
                </a:solidFill>
                <a:latin typeface="Calibri"/>
              </a:rPr>
              <a:t>Git Flow pragmático (equipe de 5): branch main protegida; merge apenas via Pull Request com revisão e verificação (CONTRIBUTING.md).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DC2626"/>
                </a:solidFill>
                <a:latin typeface="Calibri"/>
              </a:rPr>
              <a:t>▪  </a:t>
            </a:r>
            <a:r>
              <a:rPr sz="1450" b="0">
                <a:solidFill>
                  <a:srgbClr val="334155"/>
                </a:solidFill>
                <a:latin typeface="Calibri"/>
              </a:rPr>
              <a:t>TypeScript em modo estrito (strict: true), sem any injustificado; tipagem do banco gerada automaticamente (types/supabase.ts).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DC2626"/>
                </a:solidFill>
                <a:latin typeface="Calibri"/>
              </a:rPr>
              <a:t>▪  </a:t>
            </a:r>
            <a:r>
              <a:rPr sz="1450" b="0">
                <a:solidFill>
                  <a:srgbClr val="334155"/>
                </a:solidFill>
                <a:latin typeface="Calibri"/>
              </a:rPr>
              <a:t>Validação de ponta a ponta com schemas Zod + React Hook Form, centralizados em lib/schemas/.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DC2626"/>
                </a:solidFill>
                <a:latin typeface="Calibri"/>
              </a:rPr>
              <a:t>▪  </a:t>
            </a:r>
            <a:r>
              <a:rPr sz="1450" b="0">
                <a:solidFill>
                  <a:srgbClr val="334155"/>
                </a:solidFill>
                <a:latin typeface="Calibri"/>
              </a:rPr>
              <a:t>Banco de dados governado: migrações versionadas em supabase/migrations/ e RLS obrigatório em toda tabela nova.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DC2626"/>
                </a:solidFill>
                <a:latin typeface="Calibri"/>
              </a:rPr>
              <a:t>▪  </a:t>
            </a:r>
            <a:r>
              <a:rPr sz="1450" b="0">
                <a:solidFill>
                  <a:srgbClr val="334155"/>
                </a:solidFill>
                <a:latin typeface="Calibri"/>
              </a:rPr>
              <a:t>Camada de serviços isolada da UI (services/*.ts), permitindo trocar Supabase/fallback local sem reescrever telas.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DC2626"/>
                </a:solidFill>
                <a:latin typeface="Calibri"/>
              </a:rPr>
              <a:t>▪  </a:t>
            </a:r>
            <a:r>
              <a:rPr sz="1450" b="0">
                <a:solidFill>
                  <a:srgbClr val="334155"/>
                </a:solidFill>
                <a:latin typeface="Calibri"/>
              </a:rPr>
              <a:t>Pipeline de qualidade acionável localmente: npm run ci = lint + type-check + build.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CoreMotiom — Apresentação Acadêmica de Projeto  •  Curitiba, outubro de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56032" cy="25603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C2626"/>
                </a:solidFill>
                <a:latin typeface="Calibri"/>
              </a:rPr>
              <a:t>FUNDAMENTAÇÃO TÉCNICA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Stack tecnológica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1051560" cy="457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86400" cy="2103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837944"/>
            <a:ext cx="201168" cy="2011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10512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Front-end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167128"/>
            <a:ext cx="5084064" cy="1536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Next.js 15 — App Router, Server Components e Server Actions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React 19 · Tailwind CSS v4 · shadcn/ui (Radix UI)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motion (animações) · lucide-react (ícones)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1691640"/>
            <a:ext cx="5486400" cy="2103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18504" y="1837944"/>
            <a:ext cx="201168" cy="2011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1112" y="1810512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Back-end / BaaS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167128"/>
            <a:ext cx="5084064" cy="1536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Supabase: PostgreSQL 15+, Auth, Storage e RLS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Server Actions (app/actions/) e API Routes (app/api/)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node-postgres (pg) em scripts de seed e migração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77639"/>
            <a:ext cx="5486400" cy="2103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4123944"/>
            <a:ext cx="201168" cy="2011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096511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Qualidade &amp; validação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453127"/>
            <a:ext cx="5084064" cy="1536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TypeScript estrito · ESLint (eslint-config-next)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Zod (schemas) · React Hook Form (+ @hookform/resolvers)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type-check e build integrados no script ci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3912" y="3977639"/>
            <a:ext cx="5486400" cy="2103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18504" y="4123944"/>
            <a:ext cx="201168" cy="2011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11112" y="4096511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Inteligência artificial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453127"/>
            <a:ext cx="5084064" cy="1536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@google/genai — API Gemini (dependência declarada)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SmartScan: avaliação de desgaste e preço justo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(componente prototipado, em fase de integração)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CoreMotiom — Apresentação Acadêmica de Projeto  •  Curitiba, outubro de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446520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56032" cy="25603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C2626"/>
                </a:solidFill>
                <a:latin typeface="Calibri"/>
              </a:rPr>
              <a:t>ARQUITETURA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Visão em camadas do sistema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1051560" cy="457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1737360"/>
            <a:ext cx="9144000" cy="8412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828800"/>
            <a:ext cx="2103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Calibri"/>
              </a:rPr>
              <a:t>UI / Views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828800"/>
            <a:ext cx="6583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Marketplace · Lojas · Vender C2C · Coaches · Comunidade · Admin (components/)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2523744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2852928"/>
            <a:ext cx="9144000" cy="84124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944368"/>
            <a:ext cx="2103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Calibri"/>
              </a:rPr>
              <a:t>Estado global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944368"/>
            <a:ext cx="6583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CoreMotiomProvider (React Context): sessão, carrinho, toasts, modais — lib/store.tsx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3639312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3968496"/>
            <a:ext cx="9144000" cy="8412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4059935"/>
            <a:ext cx="2103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Calibri"/>
              </a:rPr>
              <a:t>Integração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059935"/>
            <a:ext cx="6583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services/*.ts · Server Actions (app/actions/) · API Routes (app/api/)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475488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5084064"/>
            <a:ext cx="9144000" cy="84124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5175503"/>
            <a:ext cx="2103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DC2626"/>
                </a:solidFill>
                <a:latin typeface="Calibri"/>
              </a:rPr>
              <a:t>Dados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5175503"/>
            <a:ext cx="6583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Supabase: Auth · PostgreSQL + RLS · Storage  |  fallback local (lib/initial-data.ts)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378440" y="2377440"/>
            <a:ext cx="13716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78440" y="2651760"/>
            <a:ext cx="1371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C2626"/>
                </a:solidFill>
                <a:latin typeface="Calibri"/>
              </a:rPr>
              <a:t>Gemini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C2626"/>
                </a:solidFill>
                <a:latin typeface="Calibri"/>
              </a:rPr>
              <a:t>API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libri"/>
              </a:rPr>
              <a:t>SmartScan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libri"/>
              </a:rPr>
              <a:t>(IA)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CoreMotiom — Apresentação Acadêmica de Projeto  •  Curitiba, outubro de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446520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56032" cy="25603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C2626"/>
                </a:solidFill>
                <a:latin typeface="Calibri"/>
              </a:rPr>
              <a:t>BANCO DE DADOS &amp; SEGURANÇA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Modelo relacional e RLS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1051560" cy="457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6858000" cy="7863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73936"/>
            <a:ext cx="20116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DC2626"/>
                </a:solidFill>
                <a:latin typeface="Calibri"/>
              </a:rPr>
              <a:t>profiles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773936"/>
            <a:ext cx="45262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334155"/>
                </a:solidFill>
                <a:latin typeface="Calibri"/>
              </a:rPr>
              <a:t>papéis: admin · merchant · seller · user; sincronizada com auth.users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78608"/>
            <a:ext cx="6858000" cy="7863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60904"/>
            <a:ext cx="20116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DC2626"/>
                </a:solidFill>
                <a:latin typeface="Calibri"/>
              </a:rPr>
              <a:t>stores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660904"/>
            <a:ext cx="45262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334155"/>
                </a:solidFill>
                <a:latin typeface="Calibri"/>
              </a:rPr>
              <a:t>verificação: none → pending → verified / rejected; docs + CNPJ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65576"/>
            <a:ext cx="6858000" cy="7863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547872"/>
            <a:ext cx="20116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DC2626"/>
                </a:solidFill>
                <a:latin typeface="Calibri"/>
              </a:rPr>
              <a:t>products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547872"/>
            <a:ext cx="45262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334155"/>
                </a:solidFill>
                <a:latin typeface="Calibri"/>
              </a:rPr>
              <a:t>product_type: b2c | c2c · condição · estoque · status active/sold/suspended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52544"/>
            <a:ext cx="6858000" cy="7863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434840"/>
            <a:ext cx="20116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DC2626"/>
                </a:solidFill>
                <a:latin typeface="Calibri"/>
              </a:rPr>
              <a:t>orders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434840"/>
            <a:ext cx="45262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334155"/>
                </a:solidFill>
                <a:latin typeface="Calibri"/>
              </a:rPr>
              <a:t>escrow: pending_payment → escrow_locked → preparing → shipped → delivered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239512"/>
            <a:ext cx="6858000" cy="7863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321807"/>
            <a:ext cx="20116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DC2626"/>
                </a:solidFill>
                <a:latin typeface="Calibri"/>
              </a:rPr>
              <a:t>community_posts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5321807"/>
            <a:ext cx="45262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334155"/>
                </a:solidFill>
                <a:latin typeface="Calibri"/>
              </a:rPr>
              <a:t>categorias: treino · equipamento · evento · dúvida · conquista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1691640"/>
            <a:ext cx="3867912" cy="786384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79" y="1801368"/>
            <a:ext cx="10058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DC2626"/>
                </a:solidFill>
                <a:latin typeface="Calibri"/>
              </a:rPr>
              <a:t>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1801368"/>
            <a:ext cx="2514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334155"/>
                </a:solidFill>
                <a:latin typeface="Calibri"/>
              </a:rPr>
              <a:t>políticas de Row Level Security ativas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0" y="2578608"/>
            <a:ext cx="3867912" cy="786384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79" y="2688336"/>
            <a:ext cx="10058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DC2626"/>
                </a:solidFill>
                <a:latin typeface="Calibri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2688336"/>
            <a:ext cx="2514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334155"/>
                </a:solidFill>
                <a:latin typeface="Calibri"/>
              </a:rPr>
              <a:t>índices para consultas de catálogo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0" y="3465576"/>
            <a:ext cx="3867912" cy="786384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79" y="3575304"/>
            <a:ext cx="10058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DC2626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3575304"/>
            <a:ext cx="2514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334155"/>
                </a:solidFill>
                <a:latin typeface="Calibri"/>
              </a:rPr>
              <a:t>funções SQL: is_admin() e handle_new_user()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0" y="4352544"/>
            <a:ext cx="3867912" cy="786384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79" y="4462272"/>
            <a:ext cx="10058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DC2626"/>
                </a:solidFill>
                <a:latin typeface="Calibri"/>
              </a:rPr>
              <a:t>314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4462272"/>
            <a:ext cx="2514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334155"/>
                </a:solidFill>
                <a:latin typeface="Calibri"/>
              </a:rPr>
              <a:t>linhas de migração versionada (supabase/migrations/)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14476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Calibri"/>
              </a:rPr>
              <a:t>is_admin(): função SECURITY DEFINER que protege o admin mestre; visitantes têm apenas leitura de dados públicos.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CoreMotiom — Apresentação Acadêmica de Projeto  •  Curitiba, outubro de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98480" y="6446520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56032" cy="25603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C2626"/>
                </a:solidFill>
                <a:latin typeface="Calibri"/>
              </a:rPr>
              <a:t>RESULTADOS FUNCIONAIS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Módulos implementados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1051560" cy="457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86400" cy="93268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856232"/>
            <a:ext cx="182880" cy="1828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19656"/>
            <a:ext cx="2103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Início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1819656"/>
            <a:ext cx="2697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Hero, destaques e vitrines curadas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1691640"/>
            <a:ext cx="5486400" cy="93268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18503" y="1856232"/>
            <a:ext cx="182880" cy="1828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1112" y="1819656"/>
            <a:ext cx="2103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Marketplace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9952" y="1819656"/>
            <a:ext cx="2697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Filtros: tipo, categoria, esporte, condição, loja verificada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743200"/>
            <a:ext cx="5486400" cy="93268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2907792"/>
            <a:ext cx="182880" cy="1828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871216"/>
            <a:ext cx="2103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Lojas Oficiais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2871216"/>
            <a:ext cx="2697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Criação de loja e selo “Verificado” via CNPJ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3912" y="2743200"/>
            <a:ext cx="5486400" cy="93268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18503" y="2907792"/>
            <a:ext cx="182880" cy="1828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11112" y="2871216"/>
            <a:ext cx="2103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Vender C2C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9952" y="2871216"/>
            <a:ext cx="2697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Anúncio de seminovos com custódia anti-golpe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794760"/>
            <a:ext cx="5486400" cy="93268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3232" y="3959352"/>
            <a:ext cx="182880" cy="1828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3922776"/>
            <a:ext cx="2103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Checkout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3922776"/>
            <a:ext cx="2697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PIX (5% off) com QR Code, cartão e boleto; escrow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53912" y="3794760"/>
            <a:ext cx="5486400" cy="93268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18503" y="3959352"/>
            <a:ext cx="182880" cy="1828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11112" y="3922776"/>
            <a:ext cx="2103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Treinadores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59952" y="3922776"/>
            <a:ext cx="2697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Perfis com CREF, avaliação e valor/hora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846320"/>
            <a:ext cx="5486400" cy="93268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010912"/>
            <a:ext cx="182880" cy="1828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4974336"/>
            <a:ext cx="2103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Comunidade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54680" y="4974336"/>
            <a:ext cx="2697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Posts, curtidas e comentários por categoria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53912" y="4846320"/>
            <a:ext cx="5486400" cy="93268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18503" y="5010912"/>
            <a:ext cx="182880" cy="1828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11112" y="4974336"/>
            <a:ext cx="2103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Painel Admin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59952" y="4974336"/>
            <a:ext cx="2697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Auditoria de lojas, pedidos e custódia (is_admin)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4748B"/>
                </a:solidFill>
                <a:latin typeface="Calibri"/>
              </a:rPr>
              <a:t>Nota de transparência: </a:t>
            </a:r>
            <a:r>
              <a:rPr sz="1150" b="0">
                <a:solidFill>
                  <a:srgbClr val="64748B"/>
                </a:solidFill>
                <a:latin typeface="Calibri"/>
              </a:rPr>
              <a:t>o módulo SmartScan (IA) existe como componente prototipado (SmartScanView.tsx), ainda não integrado à navegação.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CoreMotiom — Apresentação Acadêmica de Projeto  •  Curitiba, outubro de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98480" y="6446520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56032" cy="25603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C2626"/>
                </a:solidFill>
                <a:latin typeface="Calibri"/>
              </a:rPr>
              <a:t>RESULTADOS QUANTITATIVOS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Métricas do código e do banco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1051560" cy="457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3611880" cy="1783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201168" cy="2011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3246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DC2626"/>
                </a:solidFill>
                <a:latin typeface="Calibri"/>
              </a:rPr>
              <a:t>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98648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4155"/>
                </a:solidFill>
                <a:latin typeface="Calibri"/>
              </a:rPr>
              <a:t>arquivos TypeScript (.ts/.tsx)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6824" y="1691640"/>
            <a:ext cx="3611880" cy="1783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35424" y="1920240"/>
            <a:ext cx="201168" cy="2011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2194560"/>
            <a:ext cx="3246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DC2626"/>
                </a:solidFill>
                <a:latin typeface="Calibri"/>
              </a:rPr>
              <a:t>16.641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898648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4155"/>
                </a:solidFill>
                <a:latin typeface="Calibri"/>
              </a:rPr>
              <a:t>linhas de código TypeScript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691640"/>
            <a:ext cx="3611880" cy="1783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93608" y="1920240"/>
            <a:ext cx="201168" cy="2011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2194560"/>
            <a:ext cx="3246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DC2626"/>
                </a:solidFill>
                <a:latin typeface="Calibri"/>
              </a:rPr>
              <a:t>7.769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898648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4155"/>
                </a:solidFill>
                <a:latin typeface="Calibri"/>
              </a:rPr>
              <a:t>linhas em componentes de UI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639312"/>
            <a:ext cx="3611880" cy="1783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867912"/>
            <a:ext cx="201168" cy="2011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142232"/>
            <a:ext cx="3246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DC2626"/>
                </a:solidFill>
                <a:latin typeface="Calibri"/>
              </a:rPr>
              <a:t>1.973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846320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4155"/>
                </a:solidFill>
                <a:latin typeface="Calibri"/>
              </a:rPr>
              <a:t>linhas na camada de serviços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06824" y="3639312"/>
            <a:ext cx="3611880" cy="1783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35424" y="3867912"/>
            <a:ext cx="201168" cy="2011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9704" y="4142232"/>
            <a:ext cx="3246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DC2626"/>
                </a:solidFill>
                <a:latin typeface="Calibri"/>
              </a:rPr>
              <a:t>54 / 38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9704" y="4846320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4155"/>
                </a:solidFill>
                <a:latin typeface="Calibri"/>
              </a:rPr>
              <a:t>lojas / produtos no seed de testes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65008" y="3639312"/>
            <a:ext cx="3611880" cy="1783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93608" y="3867912"/>
            <a:ext cx="201168" cy="2011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7888" y="4142232"/>
            <a:ext cx="3246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DC2626"/>
                </a:solidFill>
                <a:latin typeface="Calibri"/>
              </a:rPr>
              <a:t>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7888" y="4846320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4155"/>
                </a:solidFill>
                <a:latin typeface="Calibri"/>
              </a:rPr>
              <a:t>políticas RLS no schema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Calibri"/>
              </a:rPr>
              <a:t>Medições diretas no repositório (wc -l / contagens de schema), outubro de 2026; seed em lib/initial-data.ts.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CoreMotiom — Apresentação Acadêmica de Projeto  •  Curitiba, outubro de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446520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56032" cy="25603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C2626"/>
                </a:solidFill>
                <a:latin typeface="Calibri"/>
              </a:rPr>
              <a:t>CONCLUSÃO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Trabalhos futuros e síntese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1051560" cy="457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DC2626"/>
                </a:solidFill>
                <a:latin typeface="Calibri"/>
              </a:rPr>
              <a:t>TRABALHOS FUTUROS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110642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DC2626"/>
                </a:solidFill>
                <a:latin typeface="Calibri"/>
              </a:rPr>
              <a:t>▪  </a:t>
            </a:r>
            <a:r>
              <a:rPr sz="1450" b="0">
                <a:solidFill>
                  <a:srgbClr val="334155"/>
                </a:solidFill>
                <a:latin typeface="Calibri"/>
              </a:rPr>
              <a:t>Integrar o SmartScan à navegação e conectar a inferência real da API Gemini.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DC2626"/>
                </a:solidFill>
                <a:latin typeface="Calibri"/>
              </a:rPr>
              <a:t>▪  </a:t>
            </a:r>
            <a:r>
              <a:rPr sz="1450" b="0">
                <a:solidFill>
                  <a:srgbClr val="334155"/>
                </a:solidFill>
                <a:latin typeface="Calibri"/>
              </a:rPr>
              <a:t>Conectar gateway de pagamento real — hoje o fluxo roda em sandbox com custódia simulada.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DC2626"/>
                </a:solidFill>
                <a:latin typeface="Calibri"/>
              </a:rPr>
              <a:t>▪  </a:t>
            </a:r>
            <a:r>
              <a:rPr sz="1450" b="0">
                <a:solidFill>
                  <a:srgbClr val="334155"/>
                </a:solidFill>
                <a:latin typeface="Calibri"/>
              </a:rPr>
              <a:t>Ativar CI com GitHub Actions (.github/workflows/) e testes end-to-end.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DC2626"/>
                </a:solidFill>
                <a:latin typeface="Calibri"/>
              </a:rPr>
              <a:t>▪  </a:t>
            </a:r>
            <a:r>
              <a:rPr sz="1450" b="0">
                <a:solidFill>
                  <a:srgbClr val="334155"/>
                </a:solidFill>
                <a:latin typeface="Calibri"/>
              </a:rPr>
              <a:t>Evoluir para experiência mobile (PWA/app) com notificações de pedido.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343400"/>
            <a:ext cx="11091672" cy="1600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4489704"/>
            <a:ext cx="201168" cy="2011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462272"/>
            <a:ext cx="104515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Síntese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818888"/>
            <a:ext cx="10689336" cy="10332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334155"/>
                </a:solidFill>
                <a:latin typeface="Calibri"/>
              </a:rPr>
              <a:t>O CoreMotiom entrega um ecossistema esportivo vertical em que confiança é recurso de produto: lojas verificadas via CNPJ, escrow na revenda C2C e Row Level Security em nível de banco — com governança de código documentada e pronta para evolução.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CoreMotiom — Apresentação Acadêmica de Projeto  •  Curitiba, outubro de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446520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